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61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1B7A7C"/>
          </a:solidFill>
          <a:ln/>
        </p:spPr>
      </p:sp>
      <p:sp>
        <p:nvSpPr>
          <p:cNvPr id="3" name="Shape 1"/>
          <p:cNvSpPr/>
          <p:nvPr/>
        </p:nvSpPr>
        <p:spPr>
          <a:xfrm>
            <a:off x="2084832" y="1188720"/>
            <a:ext cx="1892808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C:\Users\d.sverdlik\Desktop\WORKSPACE\COLUMBUS\BIZNES-AI\portfolio\screenshots\yissumi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984" y="1234440"/>
            <a:ext cx="173736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57400"/>
            <a:ext cx="51800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ישומית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51800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DC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5180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kern="0" spc="2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הדרכה ופתרונות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554480" y="5074920"/>
            <a:ext cx="2985516" cy="5303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C:\Users\d.sverdlik\Desktop\WORKSPACE\COLUMBUS\BIZNES-AI\portfolio\screenshots\priority-partner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5120640"/>
            <a:ext cx="2834640" cy="4389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F3F9F7"/>
          </a:solidFill>
          <a:ln/>
        </p:spPr>
      </p:sp>
      <p:sp>
        <p:nvSpPr>
          <p:cNvPr id="11" name="Text 7"/>
          <p:cNvSpPr/>
          <p:nvPr/>
        </p:nvSpPr>
        <p:spPr>
          <a:xfrm>
            <a:off x="6309360" y="141732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58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מערכות</a:t>
            </a:r>
            <a:endParaRPr lang="en-US" sz="5800" dirty="0"/>
          </a:p>
        </p:txBody>
      </p:sp>
      <p:sp>
        <p:nvSpPr>
          <p:cNvPr id="12" name="Text 8"/>
          <p:cNvSpPr/>
          <p:nvPr/>
        </p:nvSpPr>
        <p:spPr>
          <a:xfrm>
            <a:off x="6309360" y="2304288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+ Apps</a:t>
            </a:r>
            <a:endParaRPr lang="en-US" sz="5800" dirty="0"/>
          </a:p>
        </p:txBody>
      </p:sp>
      <p:sp>
        <p:nvSpPr>
          <p:cNvPr id="13" name="Text 9"/>
          <p:cNvSpPr/>
          <p:nvPr/>
        </p:nvSpPr>
        <p:spPr>
          <a:xfrm>
            <a:off x="6583680" y="34290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spcAft>
                <a:spcPts val="400"/>
              </a:spcAft>
              <a:buNone/>
            </a:pPr>
            <a:r>
              <a:rPr lang="en-US" sz="14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מהשרת עד הדשבורד — מחבר אחד.</a:t>
            </a:r>
            <a:endParaRPr lang="en-US" sz="1400" dirty="0"/>
          </a:p>
          <a:p>
            <a:pPr marL="0" indent="0" algn="r" rtl="1">
              <a:spcAft>
                <a:spcPts val="400"/>
              </a:spcAft>
              <a:buNone/>
            </a:pPr>
            <a:r>
              <a:rPr lang="en-US" sz="14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ERP לדשבורדים חיים ואפליקציות שטח.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528048" y="4645152"/>
            <a:ext cx="2423160" cy="347472"/>
          </a:xfrm>
          <a:prstGeom prst="rect">
            <a:avLst/>
          </a:prstGeom>
          <a:solidFill>
            <a:srgbClr val="DFF0F1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0" y="46725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ERP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784848" y="4645152"/>
            <a:ext cx="2423160" cy="347472"/>
          </a:xfrm>
          <a:prstGeom prst="rect">
            <a:avLst/>
          </a:prstGeom>
          <a:solidFill>
            <a:srgbClr val="DFF0F1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0" y="46725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528048" y="5102352"/>
            <a:ext cx="2423160" cy="347472"/>
          </a:xfrm>
          <a:prstGeom prst="rect">
            <a:avLst/>
          </a:prstGeom>
          <a:solidFill>
            <a:srgbClr val="DFF0F1"/>
          </a:solidFill>
          <a:ln/>
        </p:spPr>
      </p:sp>
      <p:sp>
        <p:nvSpPr>
          <p:cNvPr id="19" name="Text 15"/>
          <p:cNvSpPr/>
          <p:nvPr/>
        </p:nvSpPr>
        <p:spPr>
          <a:xfrm>
            <a:off x="9601200" y="51297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Fabric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784848" y="5102352"/>
            <a:ext cx="2423160" cy="347472"/>
          </a:xfrm>
          <a:prstGeom prst="rect">
            <a:avLst/>
          </a:prstGeom>
          <a:solidFill>
            <a:srgbClr val="DFF0F1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51297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7A7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058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W. EDWARDS DEMING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1554480"/>
            <a:ext cx="94457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God we trust.
All others must
</a:t>
            </a:r>
            <a:r>
              <a:rPr lang="en-US" sz="4600" b="1" dirty="0">
                <a:solidFill>
                  <a:srgbClr val="7DC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data."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371600" y="4892040"/>
            <a:ext cx="9445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באלוהים בוטחים — כל השאר חייבים להביא נתונים.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9F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10360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אנחנו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841248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מומחיות אמיתית — ‫בתחום אחד‬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10360152" cy="13716"/>
          </a:xfrm>
          <a:prstGeom prst="rect">
            <a:avLst/>
          </a:prstGeom>
          <a:solidFill>
            <a:srgbClr val="C4DAD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0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941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תחום אחד לעומק — הפצה · יבוא · מסחר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51460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עובדים עם כולם. המגרש שלנו הוא הפצה ומסחר — ויש לנו מומחיות אמיתית בו.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10360152" cy="13716"/>
          </a:xfrm>
          <a:prstGeom prst="rect">
            <a:avLst/>
          </a:prstGeom>
          <a:solidFill>
            <a:srgbClr val="C4DA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9300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0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3474720"/>
            <a:ext cx="941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שותפי Priority מורשים עם אנליסטים פעילים בשטח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88620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ישומית HD היא שותפת Priority מורשית. חלק מהצוות עובד כאנליסטים פעילים בחברות הפצה — מכירים את הנתונים מבפנים.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754880"/>
            <a:ext cx="10360152" cy="13716"/>
          </a:xfrm>
          <a:prstGeom prst="rect">
            <a:avLst/>
          </a:prstGeom>
          <a:solidFill>
            <a:srgbClr val="C4DAD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64608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0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846320"/>
            <a:ext cx="941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 איתכם — לא בשבילכם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525780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מהזמן שלנו — סשנים משותפים על ה-KPIs שלכם. מדד האיכות שלנו הוא הטמעה מוצלחת.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9F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10360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אנחנו עושים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841248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מהשרת עד הדשבורד — מחבר אחד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5394960" cy="13716"/>
          </a:xfrm>
          <a:prstGeom prst="rect">
            <a:avLst/>
          </a:prstGeom>
          <a:solidFill>
            <a:srgbClr val="C4DA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0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22199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מכירים את Priority מבפנים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כולל הנתונים שמצריכים נורמליזציה לפני האנליטיקה. מחברים ישירות ל-SQL, בונים מודל נקי.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394960" cy="13716"/>
          </a:xfrm>
          <a:prstGeom prst="rect">
            <a:avLst/>
          </a:prstGeom>
          <a:solidFill>
            <a:srgbClr val="C4DA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0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73075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בונים ומאוטומטים הכל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4114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Fabric · Power Automate · Power Apps · אפליקציות PWA לשטח — עובד לבד, ללא ייצוא ידני.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2148840"/>
            <a:ext cx="5212080" cy="438912"/>
          </a:xfrm>
          <a:prstGeom prst="rect">
            <a:avLst/>
          </a:prstGeom>
          <a:solidFill>
            <a:srgbClr val="DFF0F1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1854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ERP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761488"/>
            <a:ext cx="5212080" cy="438912"/>
          </a:xfrm>
          <a:prstGeom prst="rect">
            <a:avLst/>
          </a:prstGeom>
          <a:solidFill>
            <a:srgbClr val="E5EFE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7980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291840"/>
            <a:ext cx="5212080" cy="438912"/>
          </a:xfrm>
          <a:prstGeom prst="rect">
            <a:avLst/>
          </a:prstGeom>
          <a:solidFill>
            <a:srgbClr val="E5EFE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3284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BI Fabric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822192"/>
            <a:ext cx="5212080" cy="438912"/>
          </a:xfrm>
          <a:prstGeom prst="rect">
            <a:avLst/>
          </a:prstGeom>
          <a:solidFill>
            <a:srgbClr val="E5EFED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858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Automate · Power Apps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4352544"/>
            <a:ext cx="5212080" cy="438912"/>
          </a:xfrm>
          <a:prstGeom prst="rect">
            <a:avLst/>
          </a:prstGeom>
          <a:solidFill>
            <a:srgbClr val="E5EFED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PWA Apps לשטח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882896"/>
            <a:ext cx="5212080" cy="438912"/>
          </a:xfrm>
          <a:prstGeom prst="rect">
            <a:avLst/>
          </a:prstGeom>
          <a:solidFill>
            <a:srgbClr val="E5EFED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919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Servers · Infrastructure · Data Security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9F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360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kern="0" spc="250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אמיתי — דיסטריביוטור ישראלי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80467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פיילוט.</a:t>
            </a:r>
            <a:endParaRPr lang="en-US" sz="3400" dirty="0"/>
          </a:p>
          <a:p>
            <a:pPr marL="0" indent="0" algn="r" rtl="1">
              <a:buNone/>
            </a:pPr>
            <a:r>
              <a:rPr lang="en-US" sz="3400" b="1" dirty="0">
                <a:solidFill>
                  <a:srgbClr val="16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עובדת.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200" b="1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משתמשים פעילים יומיומיים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200" b="1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2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דשבורדים בייצור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5120640"/>
            <a:ext cx="2926080" cy="13716"/>
          </a:xfrm>
          <a:prstGeom prst="rect">
            <a:avLst/>
          </a:prstGeom>
          <a:solidFill>
            <a:srgbClr val="C4DAD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5193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5193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מכירות · כספים · רכש · מחסן · הנהלה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5605272"/>
            <a:ext cx="2926080" cy="13716"/>
          </a:xfrm>
          <a:prstGeom prst="rect">
            <a:avLst/>
          </a:prstGeom>
          <a:solidFill>
            <a:srgbClr val="C4DAD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5678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56784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· Lost Sales · מלאי חי · Intercompany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6089904"/>
            <a:ext cx="2926080" cy="13716"/>
          </a:xfrm>
          <a:prstGeom prst="rect">
            <a:avLst/>
          </a:prstGeom>
          <a:solidFill>
            <a:srgbClr val="C4DAD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163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61630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4A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חיבור ישיר ל-Priority · ללא ייצוא ידני</a:t>
            </a:r>
            <a:endParaRPr lang="en-US" sz="1100" dirty="0"/>
          </a:p>
        </p:txBody>
      </p:sp>
      <p:pic>
        <p:nvPicPr>
          <p:cNvPr id="18" name="Image 0" descr="C:\Users\d.sverdlik\Desktop\WORKSPACE\COLUMBUS\BIZNES-AI\portfolio\screenshots\pbi-usage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897536"/>
            <a:ext cx="7680960" cy="4640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7A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115C5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31520"/>
            <a:ext cx="155448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C:\Users\d.sverdlik\Desktop\WORKSPACE\COLUMBUS\BIZNES-AI\portfolio\screenshots\yissumi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777240"/>
            <a:ext cx="1408176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23160" y="777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ישומית HD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7DC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אחריות</a:t>
            </a: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ביצוע · תוצאות</a:t>
            </a:r>
            <a:endParaRPr lang="en-US" sz="66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11091672" cy="13716"/>
          </a:xfrm>
          <a:prstGeom prst="rect">
            <a:avLst/>
          </a:prstGeom>
          <a:solidFill>
            <a:srgbClr val="C4DAD4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5661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טלפון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38587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08-669-98-55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06240" y="35661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נייד / וואטסאפ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06240" y="38587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052-51-888-62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0" y="35661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0" y="38587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office@yissumithd.co.il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49377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ראשון לציון · בניין METRO צרפתי · פאול גרוניגר 4 · קומה 3 · יחידה 303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Widescreen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 Sverdlik</cp:lastModifiedBy>
  <cp:revision>2</cp:revision>
  <dcterms:created xsi:type="dcterms:W3CDTF">2026-06-02T21:19:16Z</dcterms:created>
  <dcterms:modified xsi:type="dcterms:W3CDTF">2026-06-02T21:26:25Z</dcterms:modified>
</cp:coreProperties>
</file>