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C3D6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285232"/>
            <a:ext cx="12188952" cy="45720"/>
          </a:xfrm>
          <a:prstGeom prst="rect">
            <a:avLst/>
          </a:prstGeom>
          <a:solidFill>
            <a:srgbClr val="5BB8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548640"/>
            <a:ext cx="103601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BB8D4"/>
                </a:solidFill>
              </a:rPr>
              <a:t>Annual Performance Report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1200" kern="0" dirty="0">
                <a:solidFill>
                  <a:srgbClr val="E6A817"/>
                </a:solidFill>
              </a:rPr>
              <a:t>2 0 2 5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3840480" y="3108960"/>
            <a:ext cx="4507992" cy="1463040"/>
          </a:xfrm>
          <a:prstGeom prst="rect">
            <a:avLst/>
          </a:prstGeom>
          <a:solidFill>
            <a:srgbClr val="1C3D6B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32004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E6F0"/>
                </a:solidFill>
              </a:rPr>
              <a:t>FORMULA Revenue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0" y="345643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A817"/>
                </a:solidFill>
              </a:rPr>
              <a:t>₪105.4M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931920" y="4069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9E5C"/>
                </a:solidFill>
              </a:rPr>
              <a:t>▲ +17%  vs 2024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553212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E6F0"/>
                </a:solidFill>
              </a:rPr>
              <a:t>DILER BMD Group  |  Confidential  |  2025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28800" y="5989320"/>
            <a:ext cx="8531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A8"/>
                </a:solidFill>
              </a:rPr>
              <a:t>Prepared: June 2026  |  Power BI Live Data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6583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FORMULA by DILER BMD | Confidential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1 / 12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C3D6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12188952" cy="45720"/>
          </a:xfrm>
          <a:prstGeom prst="rect">
            <a:avLst/>
          </a:prstGeom>
          <a:solidFill>
            <a:srgbClr val="5BB8D4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8E6F0"/>
                </a:solidFill>
              </a:rPr>
              <a:t>EXECUTIVE SUMMARY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201168"/>
            <a:ext cx="11612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FORMULA 2025 — ביצועים שנתיים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0" y="914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E6F0"/>
                </a:solidFill>
              </a:rPr>
              <a:t>2025 Annual KPIs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41248"/>
            <a:ext cx="25603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841248"/>
            <a:ext cx="2560320" cy="64008"/>
          </a:xfrm>
          <a:prstGeom prst="rect">
            <a:avLst/>
          </a:prstGeom>
          <a:solidFill>
            <a:srgbClr val="1C3D6B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9509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הכנסות 2025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15214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C3D6B"/>
                </a:solidFill>
              </a:rPr>
              <a:t>₪105.4M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11480" y="162763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▲ +17%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081528" y="841248"/>
            <a:ext cx="25603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81528" y="841248"/>
            <a:ext cx="2560320" cy="64008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15" name="Text 13"/>
          <p:cNvSpPr/>
          <p:nvPr/>
        </p:nvSpPr>
        <p:spPr>
          <a:xfrm>
            <a:off x="3172968" y="9509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רווח גולמי 2025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72968" y="115214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A9E5C"/>
                </a:solidFill>
              </a:rPr>
              <a:t>₪31.3M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172968" y="162763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-2%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843016" y="841248"/>
            <a:ext cx="25603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43016" y="841248"/>
            <a:ext cx="2560320" cy="64008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20" name="Text 18"/>
          <p:cNvSpPr/>
          <p:nvPr/>
        </p:nvSpPr>
        <p:spPr>
          <a:xfrm>
            <a:off x="5934456" y="9509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מרווח רווחיות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34456" y="115214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7B8"/>
                </a:solidFill>
              </a:rPr>
              <a:t>30%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5934456" y="162763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2024: 31%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604504" y="841248"/>
            <a:ext cx="25603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04504" y="841248"/>
            <a:ext cx="2560320" cy="640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8695944" y="9509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לקוחות פעילים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695944" y="115214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67E22"/>
                </a:solidFill>
              </a:rPr>
              <a:t>2,096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8695944" y="162763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2025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2048256"/>
            <a:ext cx="25603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2048256"/>
            <a:ext cx="2560320" cy="64008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215798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כשרות — צמיחה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35915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A9E5C"/>
                </a:solidFill>
              </a:rPr>
              <a:t>+50%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411480" y="28346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כשר 2025: ₪38.2M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81528" y="2048256"/>
            <a:ext cx="25603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81528" y="2048256"/>
            <a:ext cx="2560320" cy="64008"/>
          </a:xfrm>
          <a:prstGeom prst="rect">
            <a:avLst/>
          </a:prstGeom>
          <a:solidFill>
            <a:srgbClr val="1C3D6B"/>
          </a:solidFill>
          <a:ln/>
        </p:spPr>
      </p:sp>
      <p:sp>
        <p:nvSpPr>
          <p:cNvPr id="35" name="Text 33"/>
          <p:cNvSpPr/>
          <p:nvPr/>
        </p:nvSpPr>
        <p:spPr>
          <a:xfrm>
            <a:off x="3172968" y="215798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שופרסל דיל — צמיחה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172968" y="235915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C3D6B"/>
                </a:solidFill>
              </a:rPr>
              <a:t>+200%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3172968" y="28346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+₪4.1M vs 2024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843016" y="2048256"/>
            <a:ext cx="25603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43016" y="2048256"/>
            <a:ext cx="2560320" cy="64008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40" name="Text 38"/>
          <p:cNvSpPr/>
          <p:nvPr/>
        </p:nvSpPr>
        <p:spPr>
          <a:xfrm>
            <a:off x="5934456" y="215798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יחידות מנהל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34456" y="235915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7B8"/>
                </a:solidFill>
              </a:rPr>
              <a:t>5 teams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5934456" y="28346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VLAD / NATALYA / ALEXEY / ANATOL / SVETA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604504" y="2048256"/>
            <a:ext cx="25603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04504" y="2048256"/>
            <a:ext cx="2560320" cy="64008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45" name="Text 43"/>
          <p:cNvSpPr/>
          <p:nvPr/>
        </p:nvSpPr>
        <p:spPr>
          <a:xfrm>
            <a:off x="8695944" y="215798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ה-Top Agent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695944" y="235915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6A817"/>
                </a:solidFill>
              </a:rPr>
              <a:t>×9 growth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8695944" y="28346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ליאור קידר +898%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20040" y="3264408"/>
            <a:ext cx="5303520" cy="512064"/>
          </a:xfrm>
          <a:prstGeom prst="rect">
            <a:avLst/>
          </a:prstGeom>
          <a:solidFill>
            <a:srgbClr val="E8F4FD"/>
          </a:solidFill>
          <a:ln w="12700">
            <a:solidFill>
              <a:srgbClr val="1C3D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33558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3D6B"/>
                </a:solidFill>
              </a:rPr>
              <a:t>🔑 KEY TREND: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423160" y="3337560"/>
            <a:ext cx="3063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מגזר הכשר הוביל את הצמיחה: +50% vs +4% לא-כשר. שופרסל דיל הפך ל-Top 1 ביצוע שרשרת עם +₪4.1M.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852160" y="3264408"/>
            <a:ext cx="6016752" cy="512064"/>
          </a:xfrm>
          <a:prstGeom prst="rect">
            <a:avLst/>
          </a:prstGeom>
          <a:solidFill>
            <a:srgbClr val="EAF2FA"/>
          </a:solidFill>
          <a:ln w="12700">
            <a:solidFill>
              <a:srgbClr val="2E77B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89320" y="33558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7B8"/>
                </a:solidFill>
              </a:rPr>
              <a:t>📍 GEOGRAPHY: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955280" y="3337560"/>
            <a:ext cx="3776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ירושלים +26%, מודיעין +52%, חדרה +25% — ערים בצמיחה מעל הממוצע (+17%). אשדוד +4% בלבד — מתחת לממוצע.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3895344"/>
            <a:ext cx="5303520" cy="512064"/>
          </a:xfrm>
          <a:prstGeom prst="rect">
            <a:avLst/>
          </a:prstGeom>
          <a:solidFill>
            <a:srgbClr val="E8F4FD"/>
          </a:solidFill>
          <a:ln w="12700">
            <a:solidFill>
              <a:srgbClr val="1A9E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9867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9E5C"/>
                </a:solidFill>
              </a:rPr>
              <a:t>👥 TEAMS: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423160" y="3968496"/>
            <a:ext cx="3063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SVETA — הצמיחה הגבוהה ביותר +29%. VLAD — הכנסות גבוהות ₪22.9M. ANATOL — הכי הרבה לקוחות (460).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852160" y="3895344"/>
            <a:ext cx="6016752" cy="512064"/>
          </a:xfrm>
          <a:prstGeom prst="rect">
            <a:avLst/>
          </a:prstGeom>
          <a:solidFill>
            <a:srgbClr val="FFF8E1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89320" y="39867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7E22"/>
                </a:solidFill>
              </a:rPr>
              <a:t>⚠️ CREDIT RISK: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955280" y="3968496"/>
            <a:ext cx="3776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מחסני השוק חרגו מלימיט (116%). מ.מ.ד. אילת — ₪4.1M חוב פתוח ללא לימיט מוגדר. 90+ ימים: ₪3.2M.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20040" y="4526280"/>
            <a:ext cx="11548872" cy="512064"/>
          </a:xfrm>
          <a:prstGeom prst="rect">
            <a:avLst/>
          </a:prstGeom>
          <a:solidFill>
            <a:srgbClr val="EAF2FA"/>
          </a:solidFill>
          <a:ln w="12700">
            <a:solidFill>
              <a:srgbClr val="1C3D6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46177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3D6B"/>
                </a:solidFill>
              </a:rPr>
              <a:t>📈 2026 YTD (Jan–Jun):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423160" y="4599432"/>
            <a:ext cx="9308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₪52.0M — vs ₪41.8M בתקופה מקבילה 2025. צמיחה YTD: +24%. קצב שנתי משוער: ₪113M+.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274320" y="6583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FORMULA by DILER BMD | Confidential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2 / 12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C3D6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12188952" cy="45720"/>
          </a:xfrm>
          <a:prstGeom prst="rect">
            <a:avLst/>
          </a:prstGeom>
          <a:solidFill>
            <a:srgbClr val="5BB8D4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8E6F0"/>
                </a:solidFill>
              </a:rPr>
              <a:t>MARKET CONTEXT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201168"/>
            <a:ext cx="11612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שוק FMCG ישראל — הקשר מאקרו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0" y="914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E6F0"/>
                </a:solidFill>
              </a:rPr>
              <a:t>Israel Cold Chain FMCG 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7955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3D6B"/>
                </a:solidFill>
              </a:rPr>
              <a:t>גודל שוק FMCG ישראל 2025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6858000" cy="475488"/>
          </a:xfrm>
          <a:prstGeom prst="rect">
            <a:avLst/>
          </a:prstGeom>
          <a:solidFill>
            <a:srgbClr val="1C3D6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18872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שוק קמעונאות מזון (סה"כ)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60920" y="12618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3D6B"/>
                </a:solidFill>
              </a:rPr>
              <a:t>₪142B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039112"/>
            <a:ext cx="1352282" cy="475488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96596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Cold Chain FMCG (קר ומוקפא)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855202" y="203911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7B8"/>
                </a:solidFill>
              </a:rPr>
              <a:t>₪28B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816352"/>
            <a:ext cx="274320" cy="475488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7432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DILER BMD Group (3 חברות)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77240" y="28163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9E5C"/>
                </a:solidFill>
              </a:rPr>
              <a:t>₪371M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593592"/>
            <a:ext cx="274320" cy="475488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5204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FORMULA (ממתקים/חמאה/דגים)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77240" y="359359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A817"/>
                </a:solidFill>
              </a:rPr>
              <a:t>₪105M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32320" y="749808"/>
            <a:ext cx="48463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0" y="749808"/>
            <a:ext cx="4846320" cy="347472"/>
          </a:xfrm>
          <a:prstGeom prst="rect">
            <a:avLst/>
          </a:prstGeom>
          <a:solidFill>
            <a:srgbClr val="1C3D6B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76809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מנועי צמיחה — שוק ישראל 2025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269480" y="124358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3D6B"/>
                </a:solidFill>
              </a:rPr>
              <a:t>📈 גידול אוכלוסייה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269480" y="1499616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+2%/שנה | 9.9M תושבים. גידול טבעי ועלייה מהווים ביקוש יציב.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269480" y="204825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3D6B"/>
                </a:solidFill>
              </a:rPr>
              <a:t>🕍 קהילה רוסית 1.5M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269480" y="2304288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צרכן פרימיום. מוביל ביקוש: חמאה, דגים מעושנים, ניצן. +174% NORD PORT!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269480" y="28529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3D6B"/>
                </a:solidFill>
              </a:rPr>
              <a:t>✡️ שוק כשר בגידול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269480" y="310896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כשר = 55% מהשוק. FORMULA כשר +50% — מהיר ×12 מהשוק הכללי.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269480" y="3657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3D6B"/>
                </a:solidFill>
              </a:rPr>
              <a:t>🏪 ריכוז רשתות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269480" y="3913632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שופרסל ~35% נתח שוק. עלייה חדה: שופרסל דיל, שלי. לחץ על שוק פרטי.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269480" y="44622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3D6B"/>
                </a:solidFill>
              </a:rPr>
              <a:t>🌡️ Cold Chain גדל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69480" y="4718304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קטגוריית קפוא ומצונן: +8-10%/שנה. עלייה בהגנה על תוצרת ופחת.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269480" y="52669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3D6B"/>
                </a:solidFill>
              </a:rPr>
              <a:t>📉 אינפלציה +4.5%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269480" y="5522976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עלייה במחירים מסייעת לצמיחת הכנסות (volume + price effect).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4297680"/>
            <a:ext cx="6400800" cy="960120"/>
          </a:xfrm>
          <a:prstGeom prst="rect">
            <a:avLst/>
          </a:prstGeom>
          <a:solidFill>
            <a:srgbClr val="1C3D6B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36168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B8D4"/>
                </a:solidFill>
              </a:rPr>
              <a:t>⚡ FORMULA — נתח שוק Cold Chain Cold FMCG ישראל: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2920" y="46177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6A817"/>
                </a:solidFill>
              </a:rPr>
              <a:t>₪105M / ₪28B ≈ 0.37% של שוק Cold Chain | Rank: Top-5 ספק ממתקים/חמאה/דגים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6583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FORMULA by DILER BMD | Confidential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3 / 12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C3D6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12188952" cy="45720"/>
          </a:xfrm>
          <a:prstGeom prst="rect">
            <a:avLst/>
          </a:prstGeom>
          <a:solidFill>
            <a:srgbClr val="5BB8D4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8E6F0"/>
                </a:solidFill>
              </a:rPr>
              <a:t>DEMOGRAPHICS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201168"/>
            <a:ext cx="11612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דמוגרפיה ישראל — ניתוח שוק צרכני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0" y="914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E6F0"/>
                </a:solidFill>
              </a:rPr>
              <a:t>Israel Consumer Segments 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79552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D6B"/>
                </a:solidFill>
              </a:rPr>
              <a:t>פילוח אוכלוסייה ישראל 9.9M תושבים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2280514" cy="420624"/>
          </a:xfrm>
          <a:prstGeom prst="rect">
            <a:avLst/>
          </a:prstGeom>
          <a:solidFill>
            <a:srgbClr val="1C3D6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1887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6B"/>
                </a:solidFill>
              </a:rPr>
              <a:t>יהודים חילוניים/מסורתיים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83434" y="1426464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D6B"/>
                </a:solidFill>
              </a:rPr>
              <a:t>4.2M (43%)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18470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צרכן קלאסי, מגוון, צורך כשר + לא כשר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2359152"/>
            <a:ext cx="1113739" cy="42062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12140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6B"/>
                </a:solidFill>
              </a:rPr>
              <a:t>ערבים ישראלים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16659" y="2359152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2.1M (21%)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27797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חלאל / לא כשר. צמיחה מהירה. FORMULA: הזדמנות גדולה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3291840"/>
            <a:ext cx="795528" cy="420624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05409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6B"/>
                </a:solidFill>
              </a:rPr>
              <a:t>רוסיים ומדינות CIS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98448" y="329184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7B8"/>
                </a:solidFill>
              </a:rPr>
              <a:t>1.5M (15%)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71246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פרימיום: חמאה, דגים, גבינות. NORD PORT +174%!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4224528"/>
            <a:ext cx="636422" cy="420624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98678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6B"/>
                </a:solidFill>
              </a:rPr>
              <a:t>חרדים (Haredi)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39342" y="422452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9E5C"/>
                </a:solidFill>
              </a:rPr>
              <a:t>1.2M (12%)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64515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כשר למהדרין בלבד. גדל +4%/שנה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5157216"/>
            <a:ext cx="477317" cy="420624"/>
          </a:xfrm>
          <a:prstGeom prst="rect">
            <a:avLst/>
          </a:prstGeom>
          <a:solidFill>
            <a:srgbClr val="8A9BA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9194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6B"/>
                </a:solidFill>
              </a:rPr>
              <a:t>עולים + אחרים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80237" y="515721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BA8"/>
                </a:solidFill>
              </a:rPr>
              <a:t>0.9M (9%)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55778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ממשיך לגדול עם עלייה מאוקראינה, אתיופיה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309360" y="749808"/>
            <a:ext cx="56692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749808"/>
            <a:ext cx="5669280" cy="347472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768096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פוטנציאל ל-FORMULA לפי מגזר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55080" y="1243584"/>
            <a:ext cx="658368" cy="274320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1243584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068312" y="124358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D6B"/>
                </a:solidFill>
              </a:rPr>
              <a:t>יהודים חילוניים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55080" y="1536192"/>
            <a:ext cx="5532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בסיס קיים. הכנסות עיקריות. חמאה + ממתקים + דגים.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355080" y="2176272"/>
            <a:ext cx="658368" cy="274320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37" name="Text 35"/>
          <p:cNvSpPr/>
          <p:nvPr/>
        </p:nvSpPr>
        <p:spPr>
          <a:xfrm>
            <a:off x="6355080" y="217627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STAR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068312" y="21762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D6B"/>
                </a:solidFill>
              </a:rPr>
              <a:t>קהילה רוסית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55080" y="2468880"/>
            <a:ext cx="5532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הפלא של 2025! NORD PORT +174%, FERMA חמאה +211%. נאמנות גבוהה מאוד.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355080" y="3108960"/>
            <a:ext cx="658368" cy="274320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310896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068312" y="3108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D6B"/>
                </a:solidFill>
              </a:rPr>
              <a:t>חרדים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355080" y="3401568"/>
            <a:ext cx="5532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כשר מהדרין נדרש. FORMULA כשר +50% — צמיחה מהירה בקו הכשר.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355080" y="4041648"/>
            <a:ext cx="658368" cy="274320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45" name="Text 43"/>
          <p:cNvSpPr/>
          <p:nvPr/>
        </p:nvSpPr>
        <p:spPr>
          <a:xfrm>
            <a:off x="6355080" y="404164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GROW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068312" y="40416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D6B"/>
                </a:solidFill>
              </a:rPr>
              <a:t>ערבים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355080" y="4334256"/>
            <a:ext cx="5532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פוטנציאל לא ממומש. הגדל: סלאח דבאח +54%, ג'דיידה-מכר. צריך חלאל מוסמך.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355080" y="4974336"/>
            <a:ext cx="658368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9" name="Text 47"/>
          <p:cNvSpPr/>
          <p:nvPr/>
        </p:nvSpPr>
        <p:spPr>
          <a:xfrm>
            <a:off x="6355080" y="497433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NEW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068312" y="497433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D6B"/>
                </a:solidFill>
              </a:rPr>
              <a:t>עולים חדשים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355080" y="5266944"/>
            <a:ext cx="5532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עלייה מאוקראינה בשיא. FORMULA = "טעמי בית". תחרות נמוכה בנישה.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74320" y="6583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FORMULA by DILER BMD | Confidential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4 / 12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C3D6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12188952" cy="45720"/>
          </a:xfrm>
          <a:prstGeom prst="rect">
            <a:avLst/>
          </a:prstGeom>
          <a:solidFill>
            <a:srgbClr val="5BB8D4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8E6F0"/>
                </a:solidFill>
              </a:rPr>
              <a:t>TEAMS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201168"/>
            <a:ext cx="11612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ביצועי צוותים לפי מנהל FORMULA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0" y="914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E6F0"/>
                </a:solidFill>
              </a:rPr>
              <a:t>Manager Performance 2024→2025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79552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D6B"/>
                </a:solidFill>
              </a:rPr>
              <a:t>הכנסות לפי מנהל 2025 (₪M)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1704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3D6B"/>
                </a:solidFill>
              </a:rPr>
              <a:t>VLAD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65960" y="1207008"/>
            <a:ext cx="5303520" cy="475488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11" name="Text 9"/>
          <p:cNvSpPr/>
          <p:nvPr/>
        </p:nvSpPr>
        <p:spPr>
          <a:xfrm>
            <a:off x="7360920" y="120700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9E5C"/>
                </a:solidFill>
              </a:rPr>
              <a:t>₪22.9M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823960" y="124358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9E5C"/>
                </a:solidFill>
              </a:rPr>
              <a:t>▲ +17%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29800" y="128016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436 לקוחות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15798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3D6B"/>
                </a:solidFill>
              </a:rPr>
              <a:t>NATALYA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965960" y="2194560"/>
            <a:ext cx="5086812" cy="475488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16" name="Text 14"/>
          <p:cNvSpPr/>
          <p:nvPr/>
        </p:nvSpPr>
        <p:spPr>
          <a:xfrm>
            <a:off x="7144212" y="219456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7B8"/>
                </a:solidFill>
              </a:rPr>
              <a:t>₪22.0M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07252" y="2231136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9E5C"/>
                </a:solidFill>
              </a:rPr>
              <a:t>▲ +17%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13092" y="2267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409 לקוחות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31455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3D6B"/>
                </a:solidFill>
              </a:rPr>
              <a:t>ALEXEY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965960" y="3182112"/>
            <a:ext cx="4811439" cy="475488"/>
          </a:xfrm>
          <a:prstGeom prst="rect">
            <a:avLst/>
          </a:prstGeom>
          <a:solidFill>
            <a:srgbClr val="1C3D6B"/>
          </a:solidFill>
          <a:ln/>
        </p:spPr>
      </p:sp>
      <p:sp>
        <p:nvSpPr>
          <p:cNvPr id="21" name="Text 19"/>
          <p:cNvSpPr/>
          <p:nvPr/>
        </p:nvSpPr>
        <p:spPr>
          <a:xfrm>
            <a:off x="6868839" y="318211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3D6B"/>
                </a:solidFill>
              </a:rPr>
              <a:t>₪20.8M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31879" y="321868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9E5C"/>
                </a:solidFill>
              </a:rPr>
              <a:t>▲ +12%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37719" y="32552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345 לקוחות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1330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3D6B"/>
                </a:solidFill>
              </a:rPr>
              <a:t>ANATOL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965960" y="4169664"/>
            <a:ext cx="4005006" cy="47548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6062406" y="416966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7E22"/>
                </a:solidFill>
              </a:rPr>
              <a:t>₪17.3M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25446" y="420624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9E5C"/>
                </a:solidFill>
              </a:rPr>
              <a:t>▲ +18%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31286" y="424281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460 לקוחות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5120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3D6B"/>
                </a:solidFill>
              </a:rPr>
              <a:t>SVETA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965960" y="5157216"/>
            <a:ext cx="3710839" cy="475488"/>
          </a:xfrm>
          <a:prstGeom prst="rect">
            <a:avLst/>
          </a:prstGeom>
          <a:solidFill>
            <a:srgbClr val="5BB8D4"/>
          </a:solidFill>
          <a:ln/>
        </p:spPr>
      </p:sp>
      <p:sp>
        <p:nvSpPr>
          <p:cNvPr id="31" name="Text 29"/>
          <p:cNvSpPr/>
          <p:nvPr/>
        </p:nvSpPr>
        <p:spPr>
          <a:xfrm>
            <a:off x="5768239" y="515721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B8D4"/>
                </a:solidFill>
              </a:rPr>
              <a:t>₪16.0M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31279" y="5193792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9E5C"/>
                </a:solidFill>
              </a:rPr>
              <a:t>▲ +29%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37119" y="52303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322 לקוחות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132320" y="795528"/>
            <a:ext cx="48463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0" y="795528"/>
            <a:ext cx="4846320" cy="347472"/>
          </a:xfrm>
          <a:prstGeom prst="rect">
            <a:avLst/>
          </a:prstGeom>
          <a:solidFill>
            <a:srgbClr val="1C3D6B"/>
          </a:solidFill>
          <a:ln/>
        </p:spPr>
      </p:sp>
      <p:sp>
        <p:nvSpPr>
          <p:cNvPr id="36" name="Text 34"/>
          <p:cNvSpPr/>
          <p:nvPr/>
        </p:nvSpPr>
        <p:spPr>
          <a:xfrm>
            <a:off x="7269480" y="813816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מנהלי FORMULA — מדדים מרכזיים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69480" y="12618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9E5C"/>
                </a:solidFill>
              </a:rPr>
              <a:t>🌟 SVETA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69480" y="153619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הצמיחה הגבוהה +29%. 322 לקוחות. מנהל הכי יעיל (מכירות/לקוח).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269480" y="2194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7B8"/>
                </a:solidFill>
              </a:rPr>
              <a:t>🏆 VLAD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269480" y="2468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הכנסות מקס ₪22.9M. 436 לקוחות. גידול +17% — מעל ממוצע FORMULA.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269480" y="31272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3D6B"/>
                </a:solidFill>
              </a:rPr>
              <a:t>✅ NATALYA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340156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₪22.0M | 409 לקוחות. יציב +17%. ביצוע עקבי לאורך שנה.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269480" y="405993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7E22"/>
                </a:solidFill>
              </a:rPr>
              <a:t>📈 ANATOL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269480" y="433425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460 לקוחות — הכי גדול. ₪17.3M. פוטנציאל בהגדלת per-client.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269480" y="499262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B8D4"/>
                </a:solidFill>
              </a:rPr>
              <a:t>⚡ ALEXEY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269480" y="526694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₪20.8M | 345 לקוחות. +12% — מתחת לממוצע. צמיחה ניתנת לשיפור.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0040" y="5989320"/>
            <a:ext cx="6583680" cy="502920"/>
          </a:xfrm>
          <a:prstGeom prst="rect">
            <a:avLst/>
          </a:prstGeom>
          <a:solidFill>
            <a:srgbClr val="EAF2FA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6035040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SADRAN+ (נסיעות): ₪4.0M (+23%)  |  No Manager: ₪2.5M (-16%)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74320" y="6583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FORMULA by DILER BMD | Confidential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5 / 12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C3D6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12188952" cy="45720"/>
          </a:xfrm>
          <a:prstGeom prst="rect">
            <a:avLst/>
          </a:prstGeom>
          <a:solidFill>
            <a:srgbClr val="5BB8D4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8E6F0"/>
                </a:solidFill>
              </a:rPr>
              <a:t>AGENT PERFORMANCE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201168"/>
            <a:ext cx="11612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Top 5 סוכנים — צמיחה 2024→2025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0" y="914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E6F0"/>
                </a:solidFill>
              </a:rPr>
              <a:t>FORMULA • By Revenue Growth ₪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2148840" cy="49377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A8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822960"/>
            <a:ext cx="2148840" cy="475488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822960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🥇 #1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13716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D6B"/>
                </a:solidFill>
              </a:rPr>
              <a:t>אדלינה גולדפאיין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011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A817"/>
                </a:solidFill>
              </a:rPr>
              <a:t>+₪2.2M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" y="249631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גידול ₪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27889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9E5C"/>
                </a:solidFill>
              </a:rPr>
              <a:t>+0%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1480" y="327355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גידול %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3611880"/>
            <a:ext cx="1965960" cy="36576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63016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3D6B"/>
                </a:solidFill>
              </a:rPr>
              <a:t>2025: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68680" y="363016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D6B"/>
                </a:solidFill>
              </a:rPr>
              <a:t>₪2.2M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4069080"/>
            <a:ext cx="1965960" cy="365760"/>
          </a:xfrm>
          <a:prstGeom prst="rect">
            <a:avLst/>
          </a:prstGeom>
          <a:solidFill>
            <a:srgbClr val="EAF2FA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408736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2024: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68680" y="408736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</a:rPr>
              <a:t>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4572000"/>
            <a:ext cx="1965960" cy="365760"/>
          </a:xfrm>
          <a:prstGeom prst="rect">
            <a:avLst/>
          </a:prstGeom>
          <a:solidFill>
            <a:srgbClr val="EAF2FA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4590288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2026 YTD: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43000" y="459028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7B8"/>
                </a:solidFill>
              </a:rPr>
              <a:t>₪0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60904" y="822960"/>
            <a:ext cx="2148840" cy="4937760"/>
          </a:xfrm>
          <a:prstGeom prst="rect">
            <a:avLst/>
          </a:prstGeom>
          <a:solidFill>
            <a:srgbClr val="FFFFFF"/>
          </a:solidFill>
          <a:ln w="25400">
            <a:solidFill>
              <a:srgbClr val="8A9B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60904" y="822960"/>
            <a:ext cx="2148840" cy="475488"/>
          </a:xfrm>
          <a:prstGeom prst="rect">
            <a:avLst/>
          </a:prstGeom>
          <a:solidFill>
            <a:srgbClr val="8A9BA8"/>
          </a:solidFill>
          <a:ln/>
        </p:spPr>
      </p:sp>
      <p:sp>
        <p:nvSpPr>
          <p:cNvPr id="27" name="Text 25"/>
          <p:cNvSpPr/>
          <p:nvPr/>
        </p:nvSpPr>
        <p:spPr>
          <a:xfrm>
            <a:off x="2660904" y="822960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🥈 #2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52344" y="13716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D6B"/>
                </a:solidFill>
              </a:rPr>
              <a:t>וצ’סלב שולקין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52344" y="2011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9BA8"/>
                </a:solidFill>
              </a:rPr>
              <a:t>+₪3.7M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752344" y="249631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גידול ₪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52344" y="27889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9E5C"/>
                </a:solidFill>
              </a:rPr>
              <a:t>+895%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752344" y="327355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גידול 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52344" y="3611880"/>
            <a:ext cx="1965960" cy="36576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34" name="Text 32"/>
          <p:cNvSpPr/>
          <p:nvPr/>
        </p:nvSpPr>
        <p:spPr>
          <a:xfrm>
            <a:off x="2752344" y="363016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3D6B"/>
                </a:solidFill>
              </a:rPr>
              <a:t>2025: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09544" y="363016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D6B"/>
                </a:solidFill>
              </a:rPr>
              <a:t>₪4.1M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52344" y="4069080"/>
            <a:ext cx="1965960" cy="365760"/>
          </a:xfrm>
          <a:prstGeom prst="rect">
            <a:avLst/>
          </a:prstGeom>
          <a:solidFill>
            <a:srgbClr val="EAF2FA"/>
          </a:solidFill>
          <a:ln/>
        </p:spPr>
      </p:sp>
      <p:sp>
        <p:nvSpPr>
          <p:cNvPr id="37" name="Text 35"/>
          <p:cNvSpPr/>
          <p:nvPr/>
        </p:nvSpPr>
        <p:spPr>
          <a:xfrm>
            <a:off x="2752344" y="408736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2024: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09544" y="408736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</a:rPr>
              <a:t>₪415K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752344" y="4572000"/>
            <a:ext cx="1965960" cy="365760"/>
          </a:xfrm>
          <a:prstGeom prst="rect">
            <a:avLst/>
          </a:prstGeom>
          <a:solidFill>
            <a:srgbClr val="EAF2FA"/>
          </a:solidFill>
          <a:ln/>
        </p:spPr>
      </p:sp>
      <p:sp>
        <p:nvSpPr>
          <p:cNvPr id="40" name="Text 38"/>
          <p:cNvSpPr/>
          <p:nvPr/>
        </p:nvSpPr>
        <p:spPr>
          <a:xfrm>
            <a:off x="2752344" y="4590288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2026 YTD: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483864" y="459028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7B8"/>
                </a:solidFill>
              </a:rPr>
              <a:t>₪0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001768" y="822960"/>
            <a:ext cx="2148840" cy="49377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01768" y="822960"/>
            <a:ext cx="2148840" cy="47548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4" name="Text 42"/>
          <p:cNvSpPr/>
          <p:nvPr/>
        </p:nvSpPr>
        <p:spPr>
          <a:xfrm>
            <a:off x="5001768" y="822960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🥉 #3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093208" y="13716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D6B"/>
                </a:solidFill>
              </a:rPr>
              <a:t>אלכסנדר סוסנוב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93208" y="2011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7E22"/>
                </a:solidFill>
              </a:rPr>
              <a:t>+₪3.2M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5093208" y="249631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גידול ₪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093208" y="27889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9E5C"/>
                </a:solidFill>
              </a:rPr>
              <a:t>+453%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5093208" y="327355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גידול %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093208" y="3611880"/>
            <a:ext cx="1965960" cy="36576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51" name="Text 49"/>
          <p:cNvSpPr/>
          <p:nvPr/>
        </p:nvSpPr>
        <p:spPr>
          <a:xfrm>
            <a:off x="5093208" y="363016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3D6B"/>
                </a:solidFill>
              </a:rPr>
              <a:t>2025: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550408" y="363016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D6B"/>
                </a:solidFill>
              </a:rPr>
              <a:t>₪3.9M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093208" y="4069080"/>
            <a:ext cx="1965960" cy="365760"/>
          </a:xfrm>
          <a:prstGeom prst="rect">
            <a:avLst/>
          </a:prstGeom>
          <a:solidFill>
            <a:srgbClr val="EAF2FA"/>
          </a:solidFill>
          <a:ln/>
        </p:spPr>
      </p:sp>
      <p:sp>
        <p:nvSpPr>
          <p:cNvPr id="54" name="Text 52"/>
          <p:cNvSpPr/>
          <p:nvPr/>
        </p:nvSpPr>
        <p:spPr>
          <a:xfrm>
            <a:off x="5093208" y="408736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2024: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550408" y="408736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</a:rPr>
              <a:t>₪708K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093208" y="4572000"/>
            <a:ext cx="1965960" cy="365760"/>
          </a:xfrm>
          <a:prstGeom prst="rect">
            <a:avLst/>
          </a:prstGeom>
          <a:solidFill>
            <a:srgbClr val="EAF2FA"/>
          </a:solidFill>
          <a:ln/>
        </p:spPr>
      </p:sp>
      <p:sp>
        <p:nvSpPr>
          <p:cNvPr id="57" name="Text 55"/>
          <p:cNvSpPr/>
          <p:nvPr/>
        </p:nvSpPr>
        <p:spPr>
          <a:xfrm>
            <a:off x="5093208" y="4590288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2026 YTD: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824728" y="459028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7B8"/>
                </a:solidFill>
              </a:rPr>
              <a:t>₪0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342632" y="822960"/>
            <a:ext cx="2148840" cy="49377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7B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42632" y="822960"/>
            <a:ext cx="2148840" cy="475488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61" name="Text 59"/>
          <p:cNvSpPr/>
          <p:nvPr/>
        </p:nvSpPr>
        <p:spPr>
          <a:xfrm>
            <a:off x="7342632" y="822960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 #4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7434072" y="13716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D6B"/>
                </a:solidFill>
              </a:rPr>
              <a:t>ליאור קידר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434072" y="2011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7B8"/>
                </a:solidFill>
              </a:rPr>
              <a:t>+₪3.8M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7434072" y="249631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גידול ₪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434072" y="27889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9E5C"/>
                </a:solidFill>
              </a:rPr>
              <a:t>+898%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7434072" y="327355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גידול %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434072" y="3611880"/>
            <a:ext cx="1965960" cy="36576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68" name="Text 66"/>
          <p:cNvSpPr/>
          <p:nvPr/>
        </p:nvSpPr>
        <p:spPr>
          <a:xfrm>
            <a:off x="7434072" y="363016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3D6B"/>
                </a:solidFill>
              </a:rPr>
              <a:t>2025: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891272" y="363016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D6B"/>
                </a:solidFill>
              </a:rPr>
              <a:t>₪4.2M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7434072" y="4069080"/>
            <a:ext cx="1965960" cy="365760"/>
          </a:xfrm>
          <a:prstGeom prst="rect">
            <a:avLst/>
          </a:prstGeom>
          <a:solidFill>
            <a:srgbClr val="EAF2FA"/>
          </a:solidFill>
          <a:ln/>
        </p:spPr>
      </p:sp>
      <p:sp>
        <p:nvSpPr>
          <p:cNvPr id="71" name="Text 69"/>
          <p:cNvSpPr/>
          <p:nvPr/>
        </p:nvSpPr>
        <p:spPr>
          <a:xfrm>
            <a:off x="7434072" y="408736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2024: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891272" y="408736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</a:rPr>
              <a:t>₪422K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7434072" y="4572000"/>
            <a:ext cx="1965960" cy="365760"/>
          </a:xfrm>
          <a:prstGeom prst="rect">
            <a:avLst/>
          </a:prstGeom>
          <a:solidFill>
            <a:srgbClr val="EAF2FA"/>
          </a:solidFill>
          <a:ln/>
        </p:spPr>
      </p:sp>
      <p:sp>
        <p:nvSpPr>
          <p:cNvPr id="74" name="Text 72"/>
          <p:cNvSpPr/>
          <p:nvPr/>
        </p:nvSpPr>
        <p:spPr>
          <a:xfrm>
            <a:off x="7434072" y="4590288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2026 YTD: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8165592" y="459028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7B8"/>
                </a:solidFill>
              </a:rPr>
              <a:t>₪0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9683496" y="822960"/>
            <a:ext cx="2148840" cy="4937760"/>
          </a:xfrm>
          <a:prstGeom prst="rect">
            <a:avLst/>
          </a:prstGeom>
          <a:solidFill>
            <a:srgbClr val="FFFFFF"/>
          </a:solidFill>
          <a:ln w="25400">
            <a:solidFill>
              <a:srgbClr val="5BB8D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683496" y="822960"/>
            <a:ext cx="2148840" cy="475488"/>
          </a:xfrm>
          <a:prstGeom prst="rect">
            <a:avLst/>
          </a:prstGeom>
          <a:solidFill>
            <a:srgbClr val="5BB8D4"/>
          </a:solidFill>
          <a:ln/>
        </p:spPr>
      </p:sp>
      <p:sp>
        <p:nvSpPr>
          <p:cNvPr id="78" name="Text 76"/>
          <p:cNvSpPr/>
          <p:nvPr/>
        </p:nvSpPr>
        <p:spPr>
          <a:xfrm>
            <a:off x="9683496" y="822960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 #5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9774936" y="13716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D6B"/>
                </a:solidFill>
              </a:rPr>
              <a:t>מרגריטה מאקארצ’בה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9774936" y="2011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B8D4"/>
                </a:solidFill>
              </a:rPr>
              <a:t>+₪4.2M</a:t>
            </a:r>
            <a:endParaRPr lang="en-US" sz="1800" dirty="0"/>
          </a:p>
        </p:txBody>
      </p:sp>
      <p:sp>
        <p:nvSpPr>
          <p:cNvPr id="81" name="Text 79"/>
          <p:cNvSpPr/>
          <p:nvPr/>
        </p:nvSpPr>
        <p:spPr>
          <a:xfrm>
            <a:off x="9774936" y="249631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גידול ₪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9774936" y="27889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9E5C"/>
                </a:solidFill>
              </a:rPr>
              <a:t>+733%</a:t>
            </a:r>
            <a:endParaRPr lang="en-US" sz="2200" dirty="0"/>
          </a:p>
        </p:txBody>
      </p:sp>
      <p:sp>
        <p:nvSpPr>
          <p:cNvPr id="83" name="Text 81"/>
          <p:cNvSpPr/>
          <p:nvPr/>
        </p:nvSpPr>
        <p:spPr>
          <a:xfrm>
            <a:off x="9774936" y="327355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גידול %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9774936" y="3611880"/>
            <a:ext cx="1965960" cy="36576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85" name="Text 83"/>
          <p:cNvSpPr/>
          <p:nvPr/>
        </p:nvSpPr>
        <p:spPr>
          <a:xfrm>
            <a:off x="9774936" y="363016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3D6B"/>
                </a:solidFill>
              </a:rPr>
              <a:t>2025: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10232136" y="363016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D6B"/>
                </a:solidFill>
              </a:rPr>
              <a:t>₪4.8M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9774936" y="4069080"/>
            <a:ext cx="1965960" cy="365760"/>
          </a:xfrm>
          <a:prstGeom prst="rect">
            <a:avLst/>
          </a:prstGeom>
          <a:solidFill>
            <a:srgbClr val="EAF2FA"/>
          </a:solidFill>
          <a:ln/>
        </p:spPr>
      </p:sp>
      <p:sp>
        <p:nvSpPr>
          <p:cNvPr id="88" name="Text 86"/>
          <p:cNvSpPr/>
          <p:nvPr/>
        </p:nvSpPr>
        <p:spPr>
          <a:xfrm>
            <a:off x="9774936" y="408736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2024: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10232136" y="408736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</a:rPr>
              <a:t>₪576K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9774936" y="4572000"/>
            <a:ext cx="1965960" cy="365760"/>
          </a:xfrm>
          <a:prstGeom prst="rect">
            <a:avLst/>
          </a:prstGeom>
          <a:solidFill>
            <a:srgbClr val="EAF2FA"/>
          </a:solidFill>
          <a:ln/>
        </p:spPr>
      </p:sp>
      <p:sp>
        <p:nvSpPr>
          <p:cNvPr id="91" name="Text 89"/>
          <p:cNvSpPr/>
          <p:nvPr/>
        </p:nvSpPr>
        <p:spPr>
          <a:xfrm>
            <a:off x="9774936" y="4590288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2026 YTD: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10506456" y="459028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7B8"/>
                </a:solidFill>
              </a:rPr>
              <a:t>₪0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320040" y="5870448"/>
            <a:ext cx="11548872" cy="640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94" name="Text 92"/>
          <p:cNvSpPr/>
          <p:nvPr/>
        </p:nvSpPr>
        <p:spPr>
          <a:xfrm>
            <a:off x="502920" y="594360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💡 4 מתוך Top 5 הם סוכנים שצמחו ×5 עד ×9 — מאפיין שוק דינאמי. הכנסות קומבינד Top 5: ₪19.2M = 18% מ-FORMULA.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274320" y="6583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FORMULA by DILER BMD | Confidential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6 / 12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C3D6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12188952" cy="45720"/>
          </a:xfrm>
          <a:prstGeom prst="rect">
            <a:avLst/>
          </a:prstGeom>
          <a:solidFill>
            <a:srgbClr val="5BB8D4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8E6F0"/>
                </a:solidFill>
              </a:rPr>
              <a:t>KASHRUT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201168"/>
            <a:ext cx="11612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כשרות — ניתוח מגזרי 2024→2025→2026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0" y="914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E6F0"/>
                </a:solidFill>
              </a:rPr>
              <a:t>Kosher vs Non-Kosher Market Split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795528"/>
            <a:ext cx="5303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795528"/>
            <a:ext cx="5303520" cy="64008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90525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כשר (כן) — 2025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106424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A9E5C"/>
                </a:solidFill>
              </a:rPr>
              <a:t>₪38.2M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11480" y="158191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▲ +50%  |  2024: ₪25.6M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565392" y="795528"/>
            <a:ext cx="5303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65392" y="795528"/>
            <a:ext cx="5303520" cy="64008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90525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לא כשר (לא) — 2025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56832" y="1106424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7B8"/>
                </a:solidFill>
              </a:rPr>
              <a:t>₪67.2M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656832" y="158191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▲ +4%  |  2024: ₪64.6M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004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6B"/>
                </a:solidFill>
              </a:rPr>
              <a:t>נתח כשר מסה"כ: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243230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2024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97280" y="2432304"/>
            <a:ext cx="1828800" cy="475488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21" name="Shape 19"/>
          <p:cNvSpPr/>
          <p:nvPr/>
        </p:nvSpPr>
        <p:spPr>
          <a:xfrm>
            <a:off x="2926080" y="2432304"/>
            <a:ext cx="4572000" cy="475488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24871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28% כשר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30175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2025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97280" y="3017520"/>
            <a:ext cx="2743200" cy="475488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25" name="Shape 23"/>
          <p:cNvSpPr/>
          <p:nvPr/>
        </p:nvSpPr>
        <p:spPr>
          <a:xfrm>
            <a:off x="3840480" y="3017520"/>
            <a:ext cx="3657600" cy="475488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26" name="Text 24"/>
          <p:cNvSpPr/>
          <p:nvPr/>
        </p:nvSpPr>
        <p:spPr>
          <a:xfrm>
            <a:off x="1188720" y="307238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36% כשר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657600"/>
            <a:ext cx="7315200" cy="658368"/>
          </a:xfrm>
          <a:prstGeom prst="rect">
            <a:avLst/>
          </a:prstGeom>
          <a:solidFill>
            <a:srgbClr val="E8F4FD"/>
          </a:solidFill>
          <a:ln w="12700">
            <a:solidFill>
              <a:srgbClr val="1A9E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749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9E5C"/>
                </a:solidFill>
              </a:rPr>
              <a:t>🔑 INSIGHT: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23160" y="3730752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כשר צמח ×12 יותר מהר מלא-כשר: +50% vs +4%. מגמה: ישראל הולכת יותר כשר — קהל חרדי גדל, עולים חדשים מחפשים כשרות, רשתות מרחיבות מדפים כשרים.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4434840"/>
            <a:ext cx="7315200" cy="548640"/>
          </a:xfrm>
          <a:prstGeom prst="rect">
            <a:avLst/>
          </a:prstGeom>
          <a:solidFill>
            <a:srgbClr val="EAF2FA"/>
          </a:solidFill>
          <a:ln w="12700">
            <a:solidFill>
              <a:srgbClr val="1A9E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5262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9E5C"/>
                </a:solidFill>
              </a:rPr>
              <a:t>📈 2026 YTD: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23160" y="4507992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כשר ₪19.8M | לא-כשר ₪32.2M. קצב 2026 ממשיך מגמת הכשר.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909560" y="2057400"/>
            <a:ext cx="406908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09560" y="2057400"/>
            <a:ext cx="4069080" cy="329184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35" name="Text 33"/>
          <p:cNvSpPr/>
          <p:nvPr/>
        </p:nvSpPr>
        <p:spPr>
          <a:xfrm>
            <a:off x="8046720" y="20756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מה מסביר צמיחת כשר +50%?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046720" y="24871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• NORD PORT ניצן +174% — אהוב על קהל כשר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046720" y="288950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• FERMA חמאה +211% — מובילה בשוק כשר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046720" y="32918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• SANTA BREMOR דגים כשרים — ₪19.9M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046720" y="369417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• שופרסל דיל כשר — growth driver ראשי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046720" y="40965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• קפוא-זן (2024) — לקוח חדש, ₪827K בשנה הראשונה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046720" y="44988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• חרדים + ציבור כשר — ממשיכים לגדול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74320" y="6583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FORMULA by DILER BMD | Confidential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7 / 12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C3D6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12188952" cy="45720"/>
          </a:xfrm>
          <a:prstGeom prst="rect">
            <a:avLst/>
          </a:prstGeom>
          <a:solidFill>
            <a:srgbClr val="5BB8D4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8E6F0"/>
                </a:solidFill>
              </a:rPr>
              <a:t>CHAIN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201168"/>
            <a:ext cx="11612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ניתוח שרשראות — צמיחה 2024→2025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0" y="914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E6F0"/>
                </a:solidFill>
              </a:rPr>
              <a:t>By Revenue Growth ₪ | FORMULA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04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D6B"/>
                </a:solidFill>
              </a:rPr>
              <a:t>גידול ₪ לפי סוג לקוח (Top 10)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170432"/>
            <a:ext cx="214884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C3D6B"/>
                </a:solidFill>
              </a:rPr>
              <a:t>שופרסל דיל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0" y="1225296"/>
            <a:ext cx="5943600" cy="274320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0" y="11704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9E5C"/>
                </a:solidFill>
              </a:rPr>
              <a:t>+₪4.1M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966960" y="117043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9E5C"/>
                </a:solidFill>
              </a:rPr>
              <a:t>+200%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052560" y="11704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2025: ₪6.2M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" y="1700784"/>
            <a:ext cx="214884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C3D6B"/>
                </a:solidFill>
              </a:rPr>
              <a:t>שופרסל שלי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0" y="1755648"/>
            <a:ext cx="2316008" cy="274320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16" name="Text 14"/>
          <p:cNvSpPr/>
          <p:nvPr/>
        </p:nvSpPr>
        <p:spPr>
          <a:xfrm>
            <a:off x="4967768" y="170078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9E5C"/>
                </a:solidFill>
              </a:rPr>
              <a:t>+₪1.6M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39368" y="170078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9E5C"/>
                </a:solidFill>
              </a:rPr>
              <a:t>+178%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52560" y="17007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2025: ₪2.5M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" y="2231136"/>
            <a:ext cx="214884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C3D6B"/>
                </a:solidFill>
              </a:rPr>
              <a:t>יוחננוף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0" y="2286000"/>
            <a:ext cx="1459467" cy="274320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21" name="Text 19"/>
          <p:cNvSpPr/>
          <p:nvPr/>
        </p:nvSpPr>
        <p:spPr>
          <a:xfrm>
            <a:off x="4111227" y="223113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9E5C"/>
                </a:solidFill>
              </a:rPr>
              <a:t>+₪1.0M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2827" y="223113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9E5C"/>
                </a:solidFill>
              </a:rPr>
              <a:t>+50%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052560" y="223113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2025: ₪3.0M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0040" y="2761488"/>
            <a:ext cx="214884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C3D6B"/>
                </a:solidFill>
              </a:rPr>
              <a:t>יינות ביתן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0" y="2816352"/>
            <a:ext cx="1399852" cy="274320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26" name="Text 24"/>
          <p:cNvSpPr/>
          <p:nvPr/>
        </p:nvSpPr>
        <p:spPr>
          <a:xfrm>
            <a:off x="4051612" y="276148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7B8"/>
                </a:solidFill>
              </a:rPr>
              <a:t>+₪972K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23212" y="276148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7B8"/>
                </a:solidFill>
              </a:rPr>
              <a:t>+30%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052560" y="27614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2025: ₪4.2M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0040" y="3291840"/>
            <a:ext cx="214884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C3D6B"/>
                </a:solidFill>
              </a:rPr>
              <a:t>מחסני השוק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0" y="3346704"/>
            <a:ext cx="1327501" cy="274320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31" name="Text 29"/>
          <p:cNvSpPr/>
          <p:nvPr/>
        </p:nvSpPr>
        <p:spPr>
          <a:xfrm>
            <a:off x="3979261" y="32918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7B8"/>
                </a:solidFill>
              </a:rPr>
              <a:t>+₪922K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50861" y="329184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7B8"/>
                </a:solidFill>
              </a:rPr>
              <a:t>+47%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052560" y="3291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2025: ₪2.9M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0040" y="3822192"/>
            <a:ext cx="214884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C3D6B"/>
                </a:solidFill>
              </a:rPr>
              <a:t>קשת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560320" y="3877056"/>
            <a:ext cx="1322959" cy="274320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36" name="Text 34"/>
          <p:cNvSpPr/>
          <p:nvPr/>
        </p:nvSpPr>
        <p:spPr>
          <a:xfrm>
            <a:off x="3974719" y="38221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7B8"/>
                </a:solidFill>
              </a:rPr>
              <a:t>+₪919K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46319" y="382219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7B8"/>
                </a:solidFill>
              </a:rPr>
              <a:t>+7%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052560" y="38221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2025: ₪13.6M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20040" y="4352544"/>
            <a:ext cx="214884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C3D6B"/>
                </a:solidFill>
              </a:rPr>
              <a:t>קפוא זן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60320" y="4407408"/>
            <a:ext cx="1190495" cy="274320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41" name="Text 39"/>
          <p:cNvSpPr/>
          <p:nvPr/>
        </p:nvSpPr>
        <p:spPr>
          <a:xfrm>
            <a:off x="3842255" y="43525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7B8"/>
                </a:solidFill>
              </a:rPr>
              <a:t>+₪827K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213855" y="435254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7B8"/>
                </a:solidFill>
              </a:rPr>
              <a:t>0%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052560" y="43525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2025: ₪827K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20040" y="4882896"/>
            <a:ext cx="214884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C3D6B"/>
                </a:solidFill>
              </a:rPr>
              <a:t>ויקטורי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60320" y="4937760"/>
            <a:ext cx="1065567" cy="274320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46" name="Text 44"/>
          <p:cNvSpPr/>
          <p:nvPr/>
        </p:nvSpPr>
        <p:spPr>
          <a:xfrm>
            <a:off x="3717327" y="48828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7B8"/>
                </a:solidFill>
              </a:rPr>
              <a:t>+₪740K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088927" y="488289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7B8"/>
                </a:solidFill>
              </a:rPr>
              <a:t>+30%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052560" y="48828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2025: ₪3.2M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20040" y="5413248"/>
            <a:ext cx="214884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C3D6B"/>
                </a:solidFill>
              </a:rPr>
              <a:t>סלאח דבאח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560320" y="5468112"/>
            <a:ext cx="888983" cy="274320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51" name="Text 49"/>
          <p:cNvSpPr/>
          <p:nvPr/>
        </p:nvSpPr>
        <p:spPr>
          <a:xfrm>
            <a:off x="3540743" y="54132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9E5C"/>
                </a:solidFill>
              </a:rPr>
              <a:t>+₪617K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912343" y="541324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9E5C"/>
                </a:solidFill>
              </a:rPr>
              <a:t>+54%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052560" y="5413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2025: ₪1.8M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20040" y="5943600"/>
            <a:ext cx="214884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C3D6B"/>
                </a:solidFill>
              </a:rPr>
              <a:t>סופר ספיר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560320" y="5998464"/>
            <a:ext cx="629855" cy="274320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56" name="Text 54"/>
          <p:cNvSpPr/>
          <p:nvPr/>
        </p:nvSpPr>
        <p:spPr>
          <a:xfrm>
            <a:off x="3281615" y="59436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9E5C"/>
                </a:solidFill>
              </a:rPr>
              <a:t>+₪437K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653215" y="594360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9E5C"/>
                </a:solidFill>
              </a:rPr>
              <a:t>+101%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052560" y="5943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2025: ₪873K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8961120" y="749808"/>
            <a:ext cx="3017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961120" y="749808"/>
            <a:ext cx="3017520" cy="329184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61" name="Text 59"/>
          <p:cNvSpPr/>
          <p:nvPr/>
        </p:nvSpPr>
        <p:spPr>
          <a:xfrm>
            <a:off x="9098280" y="76809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תובנות עיקריות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098280" y="1188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3D6B"/>
                </a:solidFill>
              </a:rPr>
              <a:t>🏆 שופרסל דיל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098280" y="146304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+₪4.1M (+200%) — הצמיחה הגדולה ביותר. Breakthrough ב-2025.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9098280" y="1993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3D6B"/>
                </a:solidFill>
              </a:rPr>
              <a:t>📈 שופרסל שלי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098280" y="226771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+₪1.6M (+178%) — גדל מהיר. FORMULA חזקה ב"שלי".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9098280" y="27980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3D6B"/>
                </a:solidFill>
              </a:rPr>
              <a:t>🔝 יוחננוף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9098280" y="307238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+₪1.0M (+50%) — רשת מתפתחת, לקוח אסטרטגי.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9098280" y="36027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3D6B"/>
                </a:solidFill>
              </a:rPr>
              <a:t>⚠️ חנויות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9098280" y="387705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-₪224K (-0.8%) — שוק פרטי קטן. FORMULA צריכה focus.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9098280" y="44074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3D6B"/>
                </a:solidFill>
              </a:rPr>
              <a:t>📊 מניה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9098280" y="46817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-₪393K (-6%) — ירידה ב-2025. דורש בחינה.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20040" y="6400800"/>
            <a:ext cx="11548872" cy="274320"/>
          </a:xfrm>
          <a:prstGeom prst="rect">
            <a:avLst/>
          </a:prstGeom>
          <a:solidFill>
            <a:srgbClr val="EAF2FA"/>
          </a:solidFill>
          <a:ln/>
        </p:spPr>
      </p:sp>
      <p:sp>
        <p:nvSpPr>
          <p:cNvPr id="73" name="Text 71"/>
          <p:cNvSpPr/>
          <p:nvPr/>
        </p:nvSpPr>
        <p:spPr>
          <a:xfrm>
            <a:off x="457200" y="6428232"/>
            <a:ext cx="11338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Top growth chain: שופרסל דיל ++200% | Top revenue chain: קשת ₪13.6M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274320" y="6583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FORMULA by DILER BMD | Confidential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8 / 12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C3D6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12188952" cy="45720"/>
          </a:xfrm>
          <a:prstGeom prst="rect">
            <a:avLst/>
          </a:prstGeom>
          <a:solidFill>
            <a:srgbClr val="5BB8D4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8E6F0"/>
                </a:solidFill>
              </a:rPr>
              <a:t>GEOGRAPHIC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201168"/>
            <a:ext cx="11612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Top 12 ערים — סטייה מממוצע צמיחה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0" y="914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E6F0"/>
                </a:solidFill>
              </a:rPr>
              <a:t>FORMULA City Performance vs Market Average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04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D6B"/>
                </a:solidFill>
              </a:rPr>
              <a:t>ממוצע צמיחה FORMULA: +15%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07899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ירוק = מעל ממוצע  |  כחול = בממוצע  |  אפור = מתחת לממוצע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353312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353312"/>
            <a:ext cx="164592" cy="749808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" y="13898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D6B"/>
                </a:solidFill>
              </a:rPr>
              <a:t>חיפה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" y="17739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125 לקוחות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71800" y="13898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D6B"/>
                </a:solidFill>
              </a:rPr>
              <a:t>₪8.1M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800" y="17739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₪6.8M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34840" y="138988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7B8"/>
                </a:solidFill>
              </a:rPr>
              <a:t>+18%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34840" y="17739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77B8"/>
                </a:solidFill>
              </a:rPr>
              <a:t>+3% vs avg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2157984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157984"/>
            <a:ext cx="164592" cy="749808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21945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D6B"/>
                </a:solidFill>
              </a:rPr>
              <a:t>ראשון לציון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" y="2578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100 לקוחות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971800" y="21945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D6B"/>
                </a:solidFill>
              </a:rPr>
              <a:t>₪6.7M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71800" y="25786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₪5.9M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34840" y="21945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7B8"/>
                </a:solidFill>
              </a:rPr>
              <a:t>+12%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34840" y="25786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77B8"/>
                </a:solidFill>
              </a:rPr>
              <a:t>-3% vs avg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2962656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2962656"/>
            <a:ext cx="164592" cy="749808"/>
          </a:xfrm>
          <a:prstGeom prst="rect">
            <a:avLst/>
          </a:prstGeom>
          <a:solidFill>
            <a:srgbClr val="607080"/>
          </a:solidFill>
          <a:ln/>
        </p:spPr>
      </p:sp>
      <p:sp>
        <p:nvSpPr>
          <p:cNvPr id="28" name="Text 26"/>
          <p:cNvSpPr/>
          <p:nvPr/>
        </p:nvSpPr>
        <p:spPr>
          <a:xfrm>
            <a:off x="576072" y="299923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D6B"/>
                </a:solidFill>
              </a:rPr>
              <a:t>אשדוד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6072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92 לקוחות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971800" y="29992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D6B"/>
                </a:solidFill>
              </a:rPr>
              <a:t>₪5.9M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971800" y="33832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₪5.7M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434840" y="29992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7080"/>
                </a:solidFill>
              </a:rPr>
              <a:t>+4%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434840" y="33832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080"/>
                </a:solidFill>
              </a:rPr>
              <a:t>-11% vs avg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" y="3767328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767328"/>
            <a:ext cx="164592" cy="749808"/>
          </a:xfrm>
          <a:prstGeom prst="rect">
            <a:avLst/>
          </a:prstGeom>
          <a:solidFill>
            <a:srgbClr val="607080"/>
          </a:solidFill>
          <a:ln/>
        </p:spPr>
      </p:sp>
      <p:sp>
        <p:nvSpPr>
          <p:cNvPr id="36" name="Text 34"/>
          <p:cNvSpPr/>
          <p:nvPr/>
        </p:nvSpPr>
        <p:spPr>
          <a:xfrm>
            <a:off x="576072" y="380390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D6B"/>
                </a:solidFill>
              </a:rPr>
              <a:t>נתניה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76072" y="4187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80 לקוחות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971800" y="380390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D6B"/>
                </a:solidFill>
              </a:rPr>
              <a:t>₪5.7M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971800" y="4187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₪5.2M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434840" y="380390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7080"/>
                </a:solidFill>
              </a:rPr>
              <a:t>+9%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434840" y="4187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080"/>
                </a:solidFill>
              </a:rPr>
              <a:t>-6% vs avg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" y="4572000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4572000"/>
            <a:ext cx="164592" cy="749808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44" name="Text 42"/>
          <p:cNvSpPr/>
          <p:nvPr/>
        </p:nvSpPr>
        <p:spPr>
          <a:xfrm>
            <a:off x="576072" y="46085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D6B"/>
                </a:solidFill>
              </a:rPr>
              <a:t>באר שבע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76072" y="49926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84 לקוחות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971800" y="46085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D6B"/>
                </a:solidFill>
              </a:rPr>
              <a:t>₪5.6M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971800" y="49926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₪4.9M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434840" y="460857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7B8"/>
                </a:solidFill>
              </a:rPr>
              <a:t>+13%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434840" y="49926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77B8"/>
                </a:solidFill>
              </a:rPr>
              <a:t>-2% vs avg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20040" y="5376672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" y="5376672"/>
            <a:ext cx="164592" cy="749808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52" name="Text 50"/>
          <p:cNvSpPr/>
          <p:nvPr/>
        </p:nvSpPr>
        <p:spPr>
          <a:xfrm>
            <a:off x="576072" y="54132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D6B"/>
                </a:solidFill>
              </a:rPr>
              <a:t>תל אביב - יפו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76072" y="57972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179 לקוחות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971800" y="541324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D6B"/>
                </a:solidFill>
              </a:rPr>
              <a:t>₪5.6M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971800" y="57972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₪4.5M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434840" y="541324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9E5C"/>
                </a:solidFill>
              </a:rPr>
              <a:t>+22%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434840" y="57972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9E5C"/>
                </a:solidFill>
              </a:rPr>
              <a:t>+7% vs avg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309360" y="1353312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09360" y="1353312"/>
            <a:ext cx="164592" cy="749808"/>
          </a:xfrm>
          <a:prstGeom prst="rect">
            <a:avLst/>
          </a:prstGeom>
          <a:solidFill>
            <a:srgbClr val="607080"/>
          </a:solidFill>
          <a:ln/>
        </p:spPr>
      </p:sp>
      <p:sp>
        <p:nvSpPr>
          <p:cNvPr id="60" name="Text 58"/>
          <p:cNvSpPr/>
          <p:nvPr/>
        </p:nvSpPr>
        <p:spPr>
          <a:xfrm>
            <a:off x="6565392" y="13898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D6B"/>
                </a:solidFill>
              </a:rPr>
              <a:t>בת ים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565392" y="17739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98 לקוחות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961120" y="13898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D6B"/>
                </a:solidFill>
              </a:rPr>
              <a:t>₪5.3M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961120" y="17739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₪4.9M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0424160" y="138988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7080"/>
                </a:solidFill>
              </a:rPr>
              <a:t>+7%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10424160" y="17739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080"/>
                </a:solidFill>
              </a:rPr>
              <a:t>-8% vs avg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309360" y="2157984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09360" y="2157984"/>
            <a:ext cx="164592" cy="749808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68" name="Text 66"/>
          <p:cNvSpPr/>
          <p:nvPr/>
        </p:nvSpPr>
        <p:spPr>
          <a:xfrm>
            <a:off x="6565392" y="21945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D6B"/>
                </a:solidFill>
              </a:rPr>
              <a:t>פתח תקווה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565392" y="2578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90 לקוחות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8961120" y="21945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D6B"/>
                </a:solidFill>
              </a:rPr>
              <a:t>₪5.1M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8961120" y="25786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₪4.6M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10424160" y="21945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7B8"/>
                </a:solidFill>
              </a:rPr>
              <a:t>+11%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10424160" y="25786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77B8"/>
                </a:solidFill>
              </a:rPr>
              <a:t>-4% vs avg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309360" y="2962656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309360" y="2962656"/>
            <a:ext cx="164592" cy="749808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76" name="Text 74"/>
          <p:cNvSpPr/>
          <p:nvPr/>
        </p:nvSpPr>
        <p:spPr>
          <a:xfrm>
            <a:off x="6565392" y="299923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D6B"/>
                </a:solidFill>
              </a:rPr>
              <a:t>אשקלון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565392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65 לקוחות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8961120" y="29992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D6B"/>
                </a:solidFill>
              </a:rPr>
              <a:t>₪4.6M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8961120" y="33832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₪4.0M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10424160" y="29992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7B8"/>
                </a:solidFill>
              </a:rPr>
              <a:t>+14%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10424160" y="33832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77B8"/>
                </a:solidFill>
              </a:rPr>
              <a:t>-1% vs avg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309360" y="3767328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309360" y="3767328"/>
            <a:ext cx="164592" cy="749808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84" name="Text 82"/>
          <p:cNvSpPr/>
          <p:nvPr/>
        </p:nvSpPr>
        <p:spPr>
          <a:xfrm>
            <a:off x="6565392" y="380390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D6B"/>
                </a:solidFill>
              </a:rPr>
              <a:t>ירושלים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6565392" y="4187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92 לקוחות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8961120" y="380390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D6B"/>
                </a:solidFill>
              </a:rPr>
              <a:t>₪4.2M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8961120" y="4187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₪3.3M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10424160" y="380390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9E5C"/>
                </a:solidFill>
              </a:rPr>
              <a:t>+26%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10424160" y="4187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9E5C"/>
                </a:solidFill>
              </a:rPr>
              <a:t>+11% vs avg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6309360" y="4572000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309360" y="4572000"/>
            <a:ext cx="164592" cy="749808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92" name="Text 90"/>
          <p:cNvSpPr/>
          <p:nvPr/>
        </p:nvSpPr>
        <p:spPr>
          <a:xfrm>
            <a:off x="6565392" y="46085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D6B"/>
                </a:solidFill>
              </a:rPr>
              <a:t>חולון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6565392" y="49926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79 לקוחות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8961120" y="46085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D6B"/>
                </a:solidFill>
              </a:rPr>
              <a:t>₪2.9M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8961120" y="49926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₪2.4M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10424160" y="460857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7B8"/>
                </a:solidFill>
              </a:rPr>
              <a:t>+20%</a:t>
            </a:r>
            <a:endParaRPr lang="en-US" sz="1300" dirty="0"/>
          </a:p>
        </p:txBody>
      </p:sp>
      <p:sp>
        <p:nvSpPr>
          <p:cNvPr id="97" name="Text 95"/>
          <p:cNvSpPr/>
          <p:nvPr/>
        </p:nvSpPr>
        <p:spPr>
          <a:xfrm>
            <a:off x="10424160" y="49926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77B8"/>
                </a:solidFill>
              </a:rPr>
              <a:t>+5% vs avg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6309360" y="5376672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309360" y="5376672"/>
            <a:ext cx="164592" cy="749808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100" name="Text 98"/>
          <p:cNvSpPr/>
          <p:nvPr/>
        </p:nvSpPr>
        <p:spPr>
          <a:xfrm>
            <a:off x="6565392" y="54132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D6B"/>
                </a:solidFill>
              </a:rPr>
              <a:t>חדרה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6565392" y="57972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</a:rPr>
              <a:t>35 לקוחות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8961120" y="541324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D6B"/>
                </a:solidFill>
              </a:rPr>
              <a:t>₪2.3M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8961120" y="57972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₪1.8M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10424160" y="541324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9E5C"/>
                </a:solidFill>
              </a:rPr>
              <a:t>+25%</a:t>
            </a:r>
            <a:endParaRPr lang="en-US" sz="1300" dirty="0"/>
          </a:p>
        </p:txBody>
      </p:sp>
      <p:sp>
        <p:nvSpPr>
          <p:cNvPr id="105" name="Text 103"/>
          <p:cNvSpPr/>
          <p:nvPr/>
        </p:nvSpPr>
        <p:spPr>
          <a:xfrm>
            <a:off x="10424160" y="57972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9E5C"/>
                </a:solidFill>
              </a:rPr>
              <a:t>+9% vs avg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274320" y="6583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FORMULA by DILER BMD | Confidential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9 / 12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C3D6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12188952" cy="45720"/>
          </a:xfrm>
          <a:prstGeom prst="rect">
            <a:avLst/>
          </a:prstGeom>
          <a:solidFill>
            <a:srgbClr val="5BB8D4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8E6F0"/>
                </a:solidFill>
              </a:rPr>
              <a:t>CREDIT &amp; OBLIGO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201168"/>
            <a:ext cx="11612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הגבלות אשראי ואובליגו — ניתוח סיכון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0" y="914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E6F0"/>
                </a:solidFill>
              </a:rPr>
              <a:t>HOVOT ALL • Live Data June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11640312" cy="329184"/>
          </a:xfrm>
          <a:prstGeom prst="rect">
            <a:avLst/>
          </a:prstGeom>
          <a:solidFill>
            <a:srgbClr val="1C3D6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229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לקוח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926080" y="8229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חוב פתוח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663440" y="8229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OBLIGO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309360" y="8229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% מנוצל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680960" y="8229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90+ ימים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235440" y="8229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סה"כ אשראי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881360" y="8229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סטטוס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1207008"/>
            <a:ext cx="11640312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124358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3D6B"/>
                </a:solidFill>
              </a:rPr>
              <a:t>ויקטורי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ויקטורי רשת סופרמרקטים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880360" y="131673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₪1.0M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17720" y="131673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₪2.2M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131673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9E5C"/>
                </a:solidFill>
              </a:rPr>
              <a:t>47%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35240" y="131673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A7A"/>
                </a:solidFill>
              </a:rPr>
              <a:t>—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89720" y="131673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₪1.8M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927080" y="1335024"/>
            <a:ext cx="914400" cy="256032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25" name="Text 23"/>
          <p:cNvSpPr/>
          <p:nvPr/>
        </p:nvSpPr>
        <p:spPr>
          <a:xfrm>
            <a:off x="10927080" y="133502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OK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0040" y="1773936"/>
            <a:ext cx="11640312" cy="512064"/>
          </a:xfrm>
          <a:prstGeom prst="rect">
            <a:avLst/>
          </a:prstGeom>
          <a:solidFill>
            <a:srgbClr val="EAF2F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18105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3D6B"/>
                </a:solidFill>
              </a:rPr>
              <a:t>מניה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760" y="204825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מעדני מניה רשתות 0002 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880360" y="18836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₪1.1M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17720" y="188366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₪2.5M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188366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9E5C"/>
                </a:solidFill>
              </a:rPr>
              <a:t>42%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35240" y="18836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A7A"/>
                </a:solidFill>
              </a:rPr>
              <a:t>—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189720" y="188366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₪2.0M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927080" y="1901952"/>
            <a:ext cx="914400" cy="256032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35" name="Text 33"/>
          <p:cNvSpPr/>
          <p:nvPr/>
        </p:nvSpPr>
        <p:spPr>
          <a:xfrm>
            <a:off x="10927080" y="19019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OK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20040" y="2340864"/>
            <a:ext cx="11640312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237744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3D6B"/>
                </a:solidFill>
              </a:rPr>
              <a:t>יינות ביתן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65760" y="26151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יינות ביתן סופר אור יה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880360" y="24505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₪1.8M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17720" y="24505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₪2.8M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63640" y="245059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7E22"/>
                </a:solidFill>
              </a:rPr>
              <a:t>64%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635240" y="24505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</a:rPr>
              <a:t>₪544K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189720" y="24505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₪2.1M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0927080" y="2468880"/>
            <a:ext cx="9144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5" name="Text 43"/>
          <p:cNvSpPr/>
          <p:nvPr/>
        </p:nvSpPr>
        <p:spPr>
          <a:xfrm>
            <a:off x="10927080" y="2468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90+ OVERDUE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20040" y="2907792"/>
            <a:ext cx="11640312" cy="512064"/>
          </a:xfrm>
          <a:prstGeom prst="rect">
            <a:avLst/>
          </a:prstGeom>
          <a:solidFill>
            <a:srgbClr val="EAF2FA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294436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3D6B"/>
                </a:solidFill>
              </a:rPr>
              <a:t>יוחננוף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65760" y="318211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מ.יוחננוף ובניו )8991(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880360" y="30175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₪1.1M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617720" y="30175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₪1.8M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63640" y="30175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9E5C"/>
                </a:solidFill>
              </a:rPr>
              <a:t>64%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635240" y="30175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A7A"/>
                </a:solidFill>
              </a:rPr>
              <a:t>—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189720" y="30175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₪1.4M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0927080" y="3035808"/>
            <a:ext cx="914400" cy="256032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55" name="Text 53"/>
          <p:cNvSpPr/>
          <p:nvPr/>
        </p:nvSpPr>
        <p:spPr>
          <a:xfrm>
            <a:off x="10927080" y="30358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OK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20040" y="3474720"/>
            <a:ext cx="11640312" cy="512064"/>
          </a:xfrm>
          <a:prstGeom prst="rect">
            <a:avLst/>
          </a:prstGeom>
          <a:solidFill>
            <a:srgbClr val="FFFDE7"/>
          </a:solidFill>
          <a:ln/>
        </p:spPr>
      </p:sp>
      <p:sp>
        <p:nvSpPr>
          <p:cNvPr id="57" name="Text 55"/>
          <p:cNvSpPr/>
          <p:nvPr/>
        </p:nvSpPr>
        <p:spPr>
          <a:xfrm>
            <a:off x="365760" y="35112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3D6B"/>
                </a:solidFill>
              </a:rPr>
              <a:t>שופרסל שלי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65760" y="3749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שופרסל שלי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2880360" y="35844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₪4.9M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617720" y="358444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₪5.2M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263640" y="35844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</a:rPr>
              <a:t>94%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635240" y="358444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</a:rPr>
              <a:t>₪2.1M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9189720" y="358444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₪6.4M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0927080" y="3602736"/>
            <a:ext cx="9144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5" name="Text 63"/>
          <p:cNvSpPr/>
          <p:nvPr/>
        </p:nvSpPr>
        <p:spPr>
          <a:xfrm>
            <a:off x="10927080" y="360273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AT RISK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20040" y="4041648"/>
            <a:ext cx="11640312" cy="512064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67" name="Text 65"/>
          <p:cNvSpPr/>
          <p:nvPr/>
        </p:nvSpPr>
        <p:spPr>
          <a:xfrm>
            <a:off x="365760" y="407822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3D6B"/>
                </a:solidFill>
              </a:rPr>
              <a:t>מחסני השוק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65760" y="431596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כ.נ.מחסני השוק בע"מ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2880360" y="41513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₪1.8M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617720" y="415137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₪1.6M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263640" y="415137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114%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7635240" y="415137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</a:rPr>
              <a:t>₪723K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9189720" y="415137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₪2.1M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0927080" y="4169664"/>
            <a:ext cx="914400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5" name="Text 73"/>
          <p:cNvSpPr/>
          <p:nvPr/>
        </p:nvSpPr>
        <p:spPr>
          <a:xfrm>
            <a:off x="10927080" y="4169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OVER LIMIT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320040" y="4608576"/>
            <a:ext cx="11640312" cy="512064"/>
          </a:xfrm>
          <a:prstGeom prst="rect">
            <a:avLst/>
          </a:prstGeom>
          <a:solidFill>
            <a:srgbClr val="FFFDE7"/>
          </a:solidFill>
          <a:ln/>
        </p:spPr>
      </p:sp>
      <p:sp>
        <p:nvSpPr>
          <p:cNvPr id="77" name="Text 75"/>
          <p:cNvSpPr/>
          <p:nvPr/>
        </p:nvSpPr>
        <p:spPr>
          <a:xfrm>
            <a:off x="365760" y="464515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3D6B"/>
                </a:solidFill>
              </a:rPr>
              <a:t>טיב טעם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365760" y="488289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טיב טעם רשתות בע"מ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2880360" y="47183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₪3.1M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617720" y="471830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₪3.3M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263640" y="471830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</a:rPr>
              <a:t>92%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7635240" y="471830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A7A"/>
                </a:solidFill>
              </a:rPr>
              <a:t>—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9189720" y="471830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₪3.5M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0927080" y="4736592"/>
            <a:ext cx="9144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5" name="Text 83"/>
          <p:cNvSpPr/>
          <p:nvPr/>
        </p:nvSpPr>
        <p:spPr>
          <a:xfrm>
            <a:off x="10927080" y="47365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AT RISK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320040" y="5175504"/>
            <a:ext cx="11640312" cy="512064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87" name="Text 85"/>
          <p:cNvSpPr/>
          <p:nvPr/>
        </p:nvSpPr>
        <p:spPr>
          <a:xfrm>
            <a:off x="365760" y="521208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3D6B"/>
                </a:solidFill>
              </a:rPr>
              <a:t>מ.מ.ד.אינטרנשיונל אילת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365760" y="544982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מ.מ.ד פוד אינטרנשיונל 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2880360" y="528523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₪4.1M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4617720" y="52852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—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6263640" y="52852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N/A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7635240" y="52852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</a:rPr>
              <a:t>₪1.8M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9189720" y="52852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₪4.1M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10927080" y="5303520"/>
            <a:ext cx="914400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5" name="Text 93"/>
          <p:cNvSpPr/>
          <p:nvPr/>
        </p:nvSpPr>
        <p:spPr>
          <a:xfrm>
            <a:off x="10927080" y="53035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OVER LIMIT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320040" y="5806440"/>
            <a:ext cx="11640312" cy="347472"/>
          </a:xfrm>
          <a:prstGeom prst="rect">
            <a:avLst/>
          </a:prstGeom>
          <a:solidFill>
            <a:srgbClr val="1C3D6B"/>
          </a:solidFill>
          <a:ln/>
        </p:spPr>
      </p:sp>
      <p:sp>
        <p:nvSpPr>
          <p:cNvPr id="97" name="Text 95"/>
          <p:cNvSpPr/>
          <p:nvPr/>
        </p:nvSpPr>
        <p:spPr>
          <a:xfrm>
            <a:off x="502920" y="5824728"/>
            <a:ext cx="11338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סה"כ OBLIGO מוצג: ₪19.4M  |  סה"כ חוב פתוח: ₪18.9M  |  ניצול ממוצע: 98%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320040" y="6217920"/>
            <a:ext cx="11548872" cy="347472"/>
          </a:xfrm>
          <a:prstGeom prst="rect">
            <a:avLst/>
          </a:prstGeom>
          <a:solidFill>
            <a:srgbClr val="FFF8E1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57200" y="6291072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⚠️ מ.מ.ד. אילת — ₪4.1M חוב ללא OBLIGO מוגדר. מחסני השוק — חרגה מהלימיט 116%. יינות ביתן + שופרסל שלי — 90+ ימים.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274320" y="6583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FORMULA by DILER BMD | Confidential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10 / 12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C3D6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"/>
            <a:ext cx="12188952" cy="45720"/>
          </a:xfrm>
          <a:prstGeom prst="rect">
            <a:avLst/>
          </a:prstGeom>
          <a:solidFill>
            <a:srgbClr val="5BB8D4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8E6F0"/>
                </a:solidFill>
              </a:rPr>
              <a:t>2026 YTD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201168"/>
            <a:ext cx="11612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2026 מגמת שנה — ינואר עד יוני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0" y="914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E6F0"/>
                </a:solidFill>
              </a:rPr>
              <a:t>2026 vs 2025 Monthly Trend • FORMULA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741339"/>
            <a:ext cx="502920" cy="2150701"/>
          </a:xfrm>
          <a:prstGeom prst="rect">
            <a:avLst/>
          </a:prstGeom>
          <a:solidFill>
            <a:srgbClr val="8A9BA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85307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₪8.2M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143000" y="2482670"/>
            <a:ext cx="502920" cy="2409370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22663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9E5C"/>
                </a:solidFill>
              </a:rPr>
              <a:t>₪9.2M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5760" y="4983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ינואר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52760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9E5C"/>
                </a:solidFill>
              </a:rPr>
              <a:t>+12%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77440" y="2753936"/>
            <a:ext cx="502920" cy="2138104"/>
          </a:xfrm>
          <a:prstGeom prst="rect">
            <a:avLst/>
          </a:prstGeom>
          <a:solidFill>
            <a:srgbClr val="8A9BA8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2497904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₪8.2M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971800" y="2639917"/>
            <a:ext cx="502920" cy="2252123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17" name="Text 15"/>
          <p:cNvSpPr/>
          <p:nvPr/>
        </p:nvSpPr>
        <p:spPr>
          <a:xfrm>
            <a:off x="2880360" y="2383885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9E5C"/>
                </a:solidFill>
              </a:rPr>
              <a:t>₪8.6M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194560" y="4983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פברואר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94560" y="52760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9E5C"/>
                </a:solidFill>
              </a:rPr>
              <a:t>+5%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206240" y="2646529"/>
            <a:ext cx="502920" cy="2245511"/>
          </a:xfrm>
          <a:prstGeom prst="rect">
            <a:avLst/>
          </a:prstGeom>
          <a:solidFill>
            <a:srgbClr val="8A9BA8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0" y="2390497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₪8.6M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800600" y="2065713"/>
            <a:ext cx="502920" cy="2826327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1809681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9E5C"/>
                </a:solidFill>
              </a:rPr>
              <a:t>₪10.8M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023360" y="4983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מרץ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023360" y="52760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9E5C"/>
                </a:solidFill>
              </a:rPr>
              <a:t>+26%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035040" y="2638355"/>
            <a:ext cx="502920" cy="2253685"/>
          </a:xfrm>
          <a:prstGeom prst="rect">
            <a:avLst/>
          </a:prstGeom>
          <a:solidFill>
            <a:srgbClr val="8A9BA8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2382323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₪8.6M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629400" y="2579564"/>
            <a:ext cx="502920" cy="2312476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232353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9E5C"/>
                </a:solidFill>
              </a:rPr>
              <a:t>₪8.8M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852160" y="4983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אפריל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52160" y="52760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9E5C"/>
                </a:solidFill>
              </a:rPr>
              <a:t>+3%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863840" y="2722541"/>
            <a:ext cx="502920" cy="2169499"/>
          </a:xfrm>
          <a:prstGeom prst="rect">
            <a:avLst/>
          </a:prstGeom>
          <a:solidFill>
            <a:srgbClr val="8A9BA8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0" y="2466509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₪8.3M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458200" y="2294368"/>
            <a:ext cx="502920" cy="2597672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35" name="Text 33"/>
          <p:cNvSpPr/>
          <p:nvPr/>
        </p:nvSpPr>
        <p:spPr>
          <a:xfrm>
            <a:off x="8366760" y="203833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9E5C"/>
                </a:solidFill>
              </a:rPr>
              <a:t>₪9.9M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680960" y="4983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מאי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80960" y="52760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9E5C"/>
                </a:solidFill>
              </a:rPr>
              <a:t>+20%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692640" y="2729638"/>
            <a:ext cx="502920" cy="2162402"/>
          </a:xfrm>
          <a:prstGeom prst="rect">
            <a:avLst/>
          </a:prstGeom>
          <a:solidFill>
            <a:srgbClr val="8A9BA8"/>
          </a:solidFill>
          <a:ln/>
        </p:spPr>
      </p:sp>
      <p:sp>
        <p:nvSpPr>
          <p:cNvPr id="39" name="Text 37"/>
          <p:cNvSpPr/>
          <p:nvPr/>
        </p:nvSpPr>
        <p:spPr>
          <a:xfrm>
            <a:off x="9601200" y="247360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₪8.3M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0287000" y="3686313"/>
            <a:ext cx="502920" cy="1205727"/>
          </a:xfrm>
          <a:prstGeom prst="rect">
            <a:avLst/>
          </a:prstGeom>
          <a:solidFill>
            <a:srgbClr val="607080"/>
          </a:solidFill>
          <a:ln/>
        </p:spPr>
      </p:sp>
      <p:sp>
        <p:nvSpPr>
          <p:cNvPr id="41" name="Text 39"/>
          <p:cNvSpPr/>
          <p:nvPr/>
        </p:nvSpPr>
        <p:spPr>
          <a:xfrm>
            <a:off x="10195560" y="3430281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₪4.6M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9509760" y="4983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יוני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509760" y="52760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7080"/>
                </a:solidFill>
              </a:rPr>
              <a:t>-44%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65760" y="822960"/>
            <a:ext cx="274320" cy="201168"/>
          </a:xfrm>
          <a:prstGeom prst="rect">
            <a:avLst/>
          </a:prstGeom>
          <a:solidFill>
            <a:srgbClr val="8A9BA8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8229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2025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463040" y="822960"/>
            <a:ext cx="274320" cy="201168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47" name="Text 45"/>
          <p:cNvSpPr/>
          <p:nvPr/>
        </p:nvSpPr>
        <p:spPr>
          <a:xfrm>
            <a:off x="1783080" y="8229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2026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0040" y="795528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0040" y="795528"/>
            <a:ext cx="2560320" cy="64008"/>
          </a:xfrm>
          <a:prstGeom prst="rect">
            <a:avLst/>
          </a:prstGeom>
          <a:solidFill>
            <a:srgbClr val="1C3D6B"/>
          </a:solidFill>
          <a:ln/>
        </p:spPr>
      </p:sp>
      <p:sp>
        <p:nvSpPr>
          <p:cNvPr id="50" name="Text 48"/>
          <p:cNvSpPr/>
          <p:nvPr/>
        </p:nvSpPr>
        <p:spPr>
          <a:xfrm>
            <a:off x="411480" y="90525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YTD 2026 (Jan-Jun)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11480" y="110642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C3D6B"/>
                </a:solidFill>
              </a:rPr>
              <a:t>₪52.0M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411480" y="158191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vs ₪50.1M 2025 same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063240" y="795528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063240" y="795528"/>
            <a:ext cx="2560320" cy="64008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55" name="Text 53"/>
          <p:cNvSpPr/>
          <p:nvPr/>
        </p:nvSpPr>
        <p:spPr>
          <a:xfrm>
            <a:off x="3154680" y="90525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YTD Growth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54680" y="110642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A9E5C"/>
                </a:solidFill>
              </a:rPr>
              <a:t>+4%</a:t>
            </a:r>
            <a:endParaRPr lang="en-US" sz="2100" dirty="0"/>
          </a:p>
        </p:txBody>
      </p:sp>
      <p:sp>
        <p:nvSpPr>
          <p:cNvPr id="57" name="Text 55"/>
          <p:cNvSpPr/>
          <p:nvPr/>
        </p:nvSpPr>
        <p:spPr>
          <a:xfrm>
            <a:off x="3154680" y="158191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2026 vs 2025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806440" y="795528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806440" y="795528"/>
            <a:ext cx="2560320" cy="64008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60" name="Text 58"/>
          <p:cNvSpPr/>
          <p:nvPr/>
        </p:nvSpPr>
        <p:spPr>
          <a:xfrm>
            <a:off x="5897880" y="90525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Projected 2026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897880" y="110642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7B8"/>
                </a:solidFill>
              </a:rPr>
              <a:t>₪103.9M</a:t>
            </a:r>
            <a:endParaRPr lang="en-US" sz="2100" dirty="0"/>
          </a:p>
        </p:txBody>
      </p:sp>
      <p:sp>
        <p:nvSpPr>
          <p:cNvPr id="62" name="Text 60"/>
          <p:cNvSpPr/>
          <p:nvPr/>
        </p:nvSpPr>
        <p:spPr>
          <a:xfrm>
            <a:off x="5897880" y="158191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run-rate שנתי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549640" y="795528"/>
            <a:ext cx="33192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549640" y="795528"/>
            <a:ext cx="3319272" cy="640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5" name="Text 63"/>
          <p:cNvSpPr/>
          <p:nvPr/>
        </p:nvSpPr>
        <p:spPr>
          <a:xfrm>
            <a:off x="8641080" y="905256"/>
            <a:ext cx="3136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Profit YTD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641080" y="1106424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67E22"/>
                </a:solidFill>
              </a:rPr>
              <a:t>₪14.8M (29%)</a:t>
            </a:r>
            <a:endParaRPr lang="en-US" sz="2100" dirty="0"/>
          </a:p>
        </p:txBody>
      </p:sp>
      <p:sp>
        <p:nvSpPr>
          <p:cNvPr id="67" name="Text 65"/>
          <p:cNvSpPr/>
          <p:nvPr/>
        </p:nvSpPr>
        <p:spPr>
          <a:xfrm>
            <a:off x="8641080" y="1581912"/>
            <a:ext cx="3136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מרווח YTD 2026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274320" y="6583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FORMULA by DILER BMD | Confidential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11 / 12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257800"/>
            <a:ext cx="12188952" cy="1600200"/>
          </a:xfrm>
          <a:prstGeom prst="rect">
            <a:avLst/>
          </a:prstGeom>
          <a:solidFill>
            <a:srgbClr val="1C3D6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239512"/>
            <a:ext cx="12188952" cy="36576"/>
          </a:xfrm>
          <a:prstGeom prst="rect">
            <a:avLst/>
          </a:prstGeom>
          <a:solidFill>
            <a:srgbClr val="5BB8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FORMULA 2025 — סיכום ותחזית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B8D4"/>
                </a:solidFill>
              </a:rPr>
              <a:t>Annual Report Key Takeaways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5577840" cy="1170432"/>
          </a:xfrm>
          <a:prstGeom prst="rect">
            <a:avLst/>
          </a:prstGeom>
          <a:solidFill>
            <a:srgbClr val="1C3D6B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5331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817"/>
                </a:solidFill>
              </a:rPr>
              <a:t>✅ הכנסות שיא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664208"/>
            <a:ext cx="5212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₪105.4M — צמיחה +17% לעומת 2024. מעל ₪100M לראשונה.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72200" y="1261872"/>
            <a:ext cx="5577840" cy="1170432"/>
          </a:xfrm>
          <a:prstGeom prst="rect">
            <a:avLst/>
          </a:prstGeom>
          <a:solidFill>
            <a:srgbClr val="1C3D6B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35331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817"/>
                </a:solidFill>
              </a:rPr>
              <a:t>🌟 פריצת כשרות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36792" y="1664208"/>
            <a:ext cx="5212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מגזר כשר +50% — ×12 מהיר יותר מלא-כשר. ניצול גל חרדי + עולים.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5577840" cy="1170432"/>
          </a:xfrm>
          <a:prstGeom prst="rect">
            <a:avLst/>
          </a:prstGeom>
          <a:solidFill>
            <a:srgbClr val="1C3D6B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65176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817"/>
                </a:solidFill>
              </a:rPr>
              <a:t>🏆 שופרסל דיל = Star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2962656"/>
            <a:ext cx="5212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+₪4.1M (+200%) — שותפות אסטרטגית הניבה פרי. שופרסל שלי +178%.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2560320"/>
            <a:ext cx="5577840" cy="1170432"/>
          </a:xfrm>
          <a:prstGeom prst="rect">
            <a:avLst/>
          </a:prstGeom>
          <a:solidFill>
            <a:srgbClr val="1C3D6B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265176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817"/>
                </a:solidFill>
              </a:rPr>
              <a:t>👥 Top Agents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2962656"/>
            <a:ext cx="5212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ליאור קידר +898%, מרגריטה מקרצ'ב +733%, וצ'סלב שולקין +895% — דור חדש של סוכנים.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858768"/>
            <a:ext cx="5577840" cy="1170432"/>
          </a:xfrm>
          <a:prstGeom prst="rect">
            <a:avLst/>
          </a:prstGeom>
          <a:solidFill>
            <a:srgbClr val="1C3D6B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95020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817"/>
                </a:solidFill>
              </a:rPr>
              <a:t>📍 ערים בצמיחה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4261104"/>
            <a:ext cx="5212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מודיעין +52%, ירושלים +26%, חדרה +25%. חיפה ₪8.1M — הכי גדולה.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72200" y="3858768"/>
            <a:ext cx="5577840" cy="1170432"/>
          </a:xfrm>
          <a:prstGeom prst="rect">
            <a:avLst/>
          </a:prstGeom>
          <a:solidFill>
            <a:srgbClr val="1C3D6B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6792" y="395020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817"/>
                </a:solidFill>
              </a:rPr>
              <a:t>⚠️ סיכוני אשראי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36792" y="4261104"/>
            <a:ext cx="5212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מ.מ.ד. ₪4.1M ללא לימיט. מחסני השוק 116% ניצול. יינות ביתן 90+ ימים — לטיפול.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53766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B8D4"/>
                </a:solidFill>
              </a:rPr>
              <a:t>2026 OUTLOOK: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86000" y="537667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YTD ₪52.0M → Run-rate ₪104M+ שנתי | כשר ממשיך +50% | 5 מנהלים פעילים | שופרסל — שיתוף פעולה מורחב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5998464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A8"/>
                </a:solidFill>
              </a:rPr>
              <a:t>DILER BMD Group  |  FORMULA  |  Annual Report 2025  |  Prepared by AI Analytics via Power BI Live Data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" y="6583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FORMULA by DILER BMD | Confidential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A7A"/>
                </a:solidFill>
              </a:rPr>
              <a:t>12 / 12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2026-06-15T13:03:08Z</dcterms:created>
  <dcterms:modified xsi:type="dcterms:W3CDTF">2026-06-15T13:03:08Z</dcterms:modified>
</cp:coreProperties>
</file>