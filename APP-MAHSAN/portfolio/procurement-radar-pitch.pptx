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10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B7A7C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kern="0" spc="300" dirty="0">
                <a:solidFill>
                  <a:srgbClr val="AADDDB"/>
                </a:solidFill>
              </a:rPr>
              <a:t>ישומית HD · פתרון רכש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FFFFFF"/>
                </a:solidFill>
              </a:rPr>
              <a:t>מכ״ם רכש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88BBBB"/>
                </a:solidFill>
              </a:rPr>
              <a:t>PROCUREMENT RADAR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פתרון לקניין  |  יבואן / מפיץ · 50–500 SKU · Priority ERP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11C18"/>
                </a:solidFill>
              </a:rPr>
              <a:t>תמיד תדע —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B7A7C"/>
                </a:solidFill>
              </a:rPr>
              <a:t>לפני שיגמר.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6B7A74"/>
                </a:solidFill>
              </a:rPr>
              <a:t>מסך אחד לקניין. כל ה-SKU. התראות על גירעונות לפני שקורה — לא אחרי.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300" dirty="0">
                <a:solidFill>
                  <a:srgbClr val="1B7A7C"/>
                </a:solidFill>
              </a:rPr>
              <a:t>הבעיה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11C18"/>
                </a:solidFill>
              </a:rPr>
              <a:t>הקניין שלך עובד בעיוורון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11C18"/>
                </a:solidFill>
              </a:rPr>
              <a:t>ליד טיים ארוך — ריאקציה מאוחרת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יבואן מחכה 45–90 יום לסחורה. כשרואים גירעון — כבר מאוחר מדי.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34840" y="2103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11C18"/>
                </a:solidFill>
              </a:rPr>
              <a:t>נתונים פזורים — אין תמונה אחת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2651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ERP, אקסל, WhatsApp עם הספק. הקניין פותח 4 מסכים כדי להבין מה להזמין.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103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11C18"/>
                </a:solidFill>
              </a:rPr>
              <a:t>אין התראות — מגיבים לתלונות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2651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גירעון מגלים כשלקוח מתקשר. לא כשהמלאי מתחיל לרדת.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.sverdlik\Desktop\WORKSPACE\COLUMBUS\APP-MAHSAN\portfolio/slide-screenshots/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.sverdlik\Desktop\WORKSPACE\COLUMBUS\APP-MAHSAN\portfolio/slide-screenshots/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300" dirty="0">
                <a:solidFill>
                  <a:srgbClr val="1B7A7C"/>
                </a:solidFill>
              </a:rPr>
              <a:t>איך זה עובד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11C18"/>
                </a:solidFill>
              </a:rPr>
              <a:t>מהנתונים להזמנה — אוטומטית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731520" cy="731520"/>
          </a:xfrm>
          <a:prstGeom prst="ellipse">
            <a:avLst/>
          </a:prstGeom>
          <a:solidFill>
            <a:srgbClr val="D4EDE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7C"/>
                </a:solidFill>
              </a:rPr>
              <a:t>1 · נתונים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6B7A74"/>
                </a:solidFill>
              </a:rPr>
              <a:t>ERP / Priority → מלאי, מכירות, ספקים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731520" cy="731520"/>
          </a:xfrm>
          <a:prstGeom prst="ellipse">
            <a:avLst/>
          </a:prstGeom>
          <a:solidFill>
            <a:srgbClr val="D4EDED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7C"/>
                </a:solidFill>
              </a:rPr>
              <a:t>2 · תחזית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6B7A74"/>
                </a:solidFill>
              </a:rPr>
              <a:t>AI מחשב ביקוש ל-90 יום + עונתיות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463040"/>
            <a:ext cx="731520" cy="731520"/>
          </a:xfrm>
          <a:prstGeom prst="ellipse">
            <a:avLst/>
          </a:prstGeom>
          <a:solidFill>
            <a:srgbClr val="D4EDED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7C"/>
                </a:solidFill>
              </a:rPr>
              <a:t>3 · התראה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6B7A74"/>
                </a:solidFill>
              </a:rPr>
              <a:t>Email לפני שיש גירעון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12680" y="1463040"/>
            <a:ext cx="731520" cy="731520"/>
          </a:xfrm>
          <a:prstGeom prst="ellipse">
            <a:avLst/>
          </a:prstGeom>
          <a:solidFill>
            <a:srgbClr val="D4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126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0684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7C"/>
                </a:solidFill>
              </a:rPr>
              <a:t>4 · הזמנה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0684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6B7A74"/>
                </a:solidFill>
              </a:rPr>
              <a:t>קניין מאשר → PDF לספק → נרשם בהיסטוריה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8328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B7A7C"/>
                </a:solidFill>
              </a:rPr>
              <a:t>מה המערכת מחשבת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63931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C18"/>
                </a:solidFill>
              </a:rPr>
              <a:t>days_left = stock / avg_daily_sales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C18"/>
                </a:solidFill>
              </a:rPr>
              <a:t>if days_left &lt; lead_time → 🔴 DANGER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11C18"/>
                </a:solidFill>
              </a:rPr>
              <a:t>if days_left &lt; lead_time × 1.5 → 🟡 WARN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3337560"/>
            <a:ext cx="5669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3832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1B7A7C"/>
                </a:solidFill>
              </a:rPr>
              <a:t>AI אומר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363931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💬 "Vitamin D — מכירות עלו ×2.4 בנובמבר–ינואר. מומלץ להגדיל safety stock ל-60 יום לפני אוקטובר."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300" dirty="0">
                <a:solidFill>
                  <a:srgbClr val="1B7A7C"/>
                </a:solidFill>
              </a:rPr>
              <a:t>ארכיטקטורה טכנית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11C18"/>
                </a:solidFill>
              </a:rPr>
              <a:t>שלוש שכבות — זרימה אחת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7C"/>
                </a:solidFill>
              </a:rPr>
              <a:t>SQL SERVER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11C18"/>
                </a:solidFill>
              </a:rPr>
              <a:t>Priority ERP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מלאי בזמן אמת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620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היסטוריית מכירות 24M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11810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ספקים + ליד טיים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703320"/>
            <a:ext cx="3383280" cy="320040"/>
          </a:xfrm>
          <a:prstGeom prst="rect">
            <a:avLst/>
          </a:prstGeom>
          <a:solidFill>
            <a:srgbClr val="EEF6F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21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A74"/>
                </a:solidFill>
              </a:rPr>
              <a:t>Daily SQL sync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B7A74"/>
                </a:solidFill>
              </a:rPr>
              <a:t>REST API / Direct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60520" y="1371600"/>
            <a:ext cx="36576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34440"/>
            <a:ext cx="2194560" cy="256032"/>
          </a:xfrm>
          <a:prstGeom prst="rect">
            <a:avLst/>
          </a:prstGeom>
          <a:solidFill>
            <a:srgbClr val="1B7A7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ANALYTICS LAYER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5196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5196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7C"/>
                </a:solidFill>
              </a:rPr>
              <a:t>POWER BI FABRIC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5196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11C18"/>
                </a:solidFill>
              </a:rPr>
              <a:t>Semantic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26060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DAX measures — ימי מלאי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28620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תחזית ביקוש (Prophet)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311810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KPI סטטוסים אוטומטיים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33741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API לאפליקציה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3703320"/>
            <a:ext cx="3383280" cy="320040"/>
          </a:xfrm>
          <a:prstGeom prst="rect">
            <a:avLst/>
          </a:prstGeom>
          <a:solidFill>
            <a:srgbClr val="EEF6F4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3721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A74"/>
                </a:solidFill>
              </a:rPr>
              <a:t>executeQueries REST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B7A74"/>
                </a:solidFill>
              </a:rPr>
              <a:t>Bearer token auth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46720" y="137160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3816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7C"/>
                </a:solidFill>
              </a:rPr>
              <a:t>WEB APP / PWA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11C18"/>
                </a:solidFill>
              </a:rPr>
              <a:t>מכ״ם רכש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26060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לוח SKU + סטטוסים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83880" y="28620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מרכז התראות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311810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Order Builder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83880" y="33741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▸ Email התראות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83880" y="3703320"/>
            <a:ext cx="3383280" cy="320040"/>
          </a:xfrm>
          <a:prstGeom prst="rect">
            <a:avLst/>
          </a:prstGeom>
          <a:solidFill>
            <a:srgbClr val="EEF6F4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3721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A74"/>
                </a:solidFill>
              </a:rPr>
              <a:t>Node.js + React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B7A74"/>
                </a:solidFill>
              </a:rPr>
              <a:t>VPS / Azure Cloud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49040" y="2606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7A7C"/>
                </a:solidFill>
              </a:rPr>
              <a:t>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635240" y="2606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7A7C"/>
                </a:solidFill>
              </a:rPr>
              <a:t>←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300" dirty="0">
                <a:solidFill>
                  <a:srgbClr val="1B7A7C"/>
                </a:solidFill>
              </a:rPr>
              <a:t>כמה עבודה מאחורי המחיר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11C18"/>
                </a:solidFill>
              </a:rPr>
              <a:t>אומדן שעות — MVP מלא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60120"/>
          <a:ext cx="7223760" cy="3767328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פאזה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מה כלול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שעות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7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תשתית ואימות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A74"/>
                          </a:solidFill>
                        </a:rPr>
                        <a:t>Server, DB, API skeleton, JWT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74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שכבת Power BI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A74"/>
                          </a:solidFill>
                        </a:rPr>
                        <a:t>PBI Gateway, DAX measures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74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לוח SKU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A74"/>
                          </a:solidFill>
                        </a:rPr>
                        <a:t>Table, statuses, filters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74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מנוע התראות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A74"/>
                          </a:solidFill>
                        </a:rPr>
                        <a:t>Email alerts, logic, cron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74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Order Builder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A74"/>
                          </a:solidFill>
                        </a:rPr>
                        <a:t>Suggested qty, MVP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74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ניהול ספקים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A74"/>
                          </a:solidFill>
                        </a:rPr>
                        <a:t>Basic table, lead time, MOQ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74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ממשק עברי RTL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A74"/>
                          </a:solidFill>
                        </a:rPr>
                        <a:t>Design, responsive, PWA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74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QA ופריסה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A74"/>
                          </a:solidFill>
                        </a:rPr>
                        <a:t>VPS, HTTPS, security, UAT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A74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הדרכה ואונבורדינג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A74"/>
                          </a:solidFill>
                        </a:rPr>
                        <a:t>1 session + video tutorial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C1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b="1" dirty="0">
                          <a:solidFill>
                            <a:srgbClr val="1B7A7C"/>
                          </a:solidFill>
                        </a:rPr>
                        <a:t>MVP סה״כ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7A7C"/>
                          </a:solidFill>
                        </a:rPr>
                        <a:t>135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960120"/>
            <a:ext cx="329184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A7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1051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7C"/>
                </a:solidFill>
              </a:rPr>
              <a:t>המחיר שלנו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03920" y="1325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7A7C"/>
                </a:solidFill>
              </a:rPr>
              <a:t>20,000</a:t>
            </a:r>
            <a:endParaRPr lang="en-US" sz="3600" dirty="0"/>
          </a:p>
        </p:txBody>
      </p:sp>
      <p:sp>
        <p:nvSpPr>
          <p:cNvPr id="4" name="Text 5"/>
          <p:cNvSpPr/>
          <p:nvPr/>
        </p:nvSpPr>
        <p:spPr>
          <a:xfrm>
            <a:off x="850392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₪ — הטמעה חד-פעמית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03920" y="2331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7DC242"/>
                </a:solidFill>
              </a:rPr>
              <a:t>800₪/חודש — תמיכה ועדכונים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03920" y="2651760"/>
            <a:ext cx="3108960" cy="822960"/>
          </a:xfrm>
          <a:prstGeom prst="rect">
            <a:avLst/>
          </a:prstGeom>
          <a:solidFill>
            <a:srgbClr val="EEF6F4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2697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6B7A74"/>
                </a:solidFill>
              </a:rPr>
              <a:t>6-8 שבועות לסיום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03920" y="2971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6B7A74"/>
                </a:solidFill>
              </a:rPr>
              <a:t>Priority ERP מבפנים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03920" y="3246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7A7C"/>
                </a:solidFill>
              </a:rPr>
              <a:t>קוד שלכם, שרת שלכם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300" dirty="0">
                <a:solidFill>
                  <a:srgbClr val="1B7A7C"/>
                </a:solidFill>
              </a:rPr>
              <a:t>מחירים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11C18"/>
                </a:solidFill>
              </a:rPr>
              <a:t>מחיר סטארט-אפ — מומחיות אמיתית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45720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0" y="1234440"/>
            <a:ext cx="1280160" cy="256032"/>
          </a:xfrm>
          <a:prstGeom prst="rect">
            <a:avLst/>
          </a:prstGeom>
          <a:solidFill>
            <a:srgbClr val="1B7A7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מומלץ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A74"/>
                </a:solidFill>
              </a:rPr>
              <a:t>SETUP + FORECAST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7A7C"/>
                </a:solidFill>
              </a:rPr>
              <a:t>20K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₪ — הטמעה + מנוע חיזוי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8803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✓  הכל ב-SETUP 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31272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✓  תחזית ביקוש 90 יום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337413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✓  זיהוי עונתיות אוטומטי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62102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✓  AI אינסייטים על SKU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86791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✓  זיהוי עודפי מלאי (Slow Movers)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4572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63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A74"/>
                </a:solidFill>
              </a:rPr>
              <a:t>תמיכה שוטפת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7A7C"/>
                </a:solidFill>
              </a:rPr>
              <a:t>800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675120" y="2560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₪/חודש — אחרי האישור הסופי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8803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✓  הרצת שרת + דאטה יומי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1272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✓  עדכוני מודל חיזוי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37413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✓  תמיכה שוטפת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362102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✓  גיבויים אוטומטיים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300" dirty="0">
                <a:solidFill>
                  <a:srgbClr val="1B7A7C"/>
                </a:solidFill>
              </a:rPr>
              <a:t>הצעת מחיר רשמית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11C18"/>
                </a:solidFill>
              </a:rPr>
              <a:t>הצעת מחיר — מכ״ם רכש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5669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1B7A7C"/>
                </a:solidFill>
              </a:rPr>
              <a:t>פירוט השירותים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11C18"/>
                </a:solidFill>
              </a:rPr>
              <a:t>Setup — לוח SKU, ERP, סטטוסים, Email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7A7C"/>
                </a:solidFill>
              </a:rPr>
              <a:t>15,000₪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756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11C18"/>
                </a:solidFill>
              </a:rPr>
              <a:t>Forecast — תחזית 90 יום + AI אינסייטס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0756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7A7C"/>
                </a:solidFill>
              </a:rPr>
              <a:t>+3,000₪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597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11C18"/>
                </a:solidFill>
              </a:rPr>
              <a:t>Order Builder MVP — כמות מוצעת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4597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7A7C"/>
                </a:solidFill>
              </a:rPr>
              <a:t>+2,000₪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437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11C18"/>
                </a:solidFill>
              </a:rPr>
              <a:t>הדרכה + תיעוד משתמש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8437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7A7C"/>
                </a:solidFill>
              </a:rPr>
              <a:t>כלול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5669280" cy="457200"/>
          </a:xfrm>
          <a:prstGeom prst="rect">
            <a:avLst/>
          </a:prstGeom>
          <a:solidFill>
            <a:srgbClr val="EBF5F3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3649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11C18"/>
                </a:solidFill>
              </a:rPr>
              <a:t>סה"כ הטמעה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3649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7A7C"/>
                </a:solidFill>
              </a:rPr>
              <a:t>20,000₪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1480" y="3840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74"/>
                </a:solidFill>
              </a:rPr>
              <a:t>תמיכה שוטפת + </a:t>
            </a:r>
            <a:r>
              <a:rPr lang="en-US" sz="1100" dirty="0" err="1">
                <a:solidFill>
                  <a:srgbClr val="6B7A74"/>
                </a:solidFill>
              </a:rPr>
              <a:t>עדכונים</a:t>
            </a:r>
            <a:r>
              <a:rPr lang="en-US" sz="1100" dirty="0">
                <a:solidFill>
                  <a:srgbClr val="6B7A74"/>
                </a:solidFill>
              </a:rPr>
              <a:t>  800₪/חודש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3258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1B7A7C"/>
                </a:solidFill>
              </a:rPr>
              <a:t>לוח זמנים ואספקה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162763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1  שבועות 1–2 — תשתית + חיבור Priority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188366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2  שבועות 3–4 — לוח SKU + סטטוסים + התראות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13969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3  שבועות 5–8 — Order Builder + Forecast + QA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39572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⏱  3 חודשי ניסיון — פיתוח ממשיך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65176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✓  אישור לקוח — מסירה סופית + Go-Live מלא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15468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2186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1B7A7C"/>
                </a:solidFill>
              </a:rPr>
              <a:t>תנאי תשלום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50215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💳 50% בחתימה (10,000₪) — תחילת עבודה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37490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⏱ 3 חודשי ניסיון — מערכת חיה, לא משלמים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99592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B7A74"/>
                </a:solidFill>
              </a:rPr>
              <a:t>💳 50% באישור (10,000₪) — רק אחרי שמרוצים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7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</a:rPr>
              <a:t>מכ״ם רכש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600" b="1" dirty="0">
                <a:solidFill>
                  <a:srgbClr val="7DC242"/>
                </a:solidFill>
              </a:rPr>
              <a:t>תחזית.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600" b="1" dirty="0">
                <a:solidFill>
                  <a:srgbClr val="FFFFFF"/>
                </a:solidFill>
              </a:rPr>
              <a:t>שליטה. תוצאות.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kern="0" spc="200" dirty="0">
                <a:solidFill>
                  <a:srgbClr val="AADDDB"/>
                </a:solidFill>
              </a:rPr>
              <a:t>חברה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</a:rPr>
              <a:t>ישומית HD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kern="0" spc="200" dirty="0">
                <a:solidFill>
                  <a:srgbClr val="AADDDB"/>
                </a:solidFill>
              </a:rPr>
              <a:t>טלפון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</a:rPr>
              <a:t>08-669-98-55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kern="0" spc="200" dirty="0">
                <a:solidFill>
                  <a:srgbClr val="AADDDB"/>
                </a:solidFill>
              </a:rPr>
              <a:t>נייד / וואטסאפ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</a:rPr>
              <a:t>052-51-888-62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3544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kern="0" spc="200" dirty="0">
                <a:solidFill>
                  <a:srgbClr val="AADDDB"/>
                </a:solidFill>
              </a:rPr>
              <a:t>מייל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23544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</a:rPr>
              <a:t>office@yissumithd.co.il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6AACAC"/>
                </a:solidFill>
              </a:rPr>
              <a:t>ראשון לציון · בניין METRO צרפתי · פאול גרוניגר 4 · קומה 3 · יחידה 303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721</Words>
  <Application>Microsoft Office PowerPoint</Application>
  <PresentationFormat>Widescreen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 Sverdlik</cp:lastModifiedBy>
  <cp:revision>2</cp:revision>
  <dcterms:created xsi:type="dcterms:W3CDTF">2026-06-06T13:53:54Z</dcterms:created>
  <dcterms:modified xsi:type="dcterms:W3CDTF">2026-06-06T13:55:47Z</dcterms:modified>
</cp:coreProperties>
</file>