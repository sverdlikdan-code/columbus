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943600"/>
            <a:ext cx="5029200" cy="914400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685800"/>
            <a:ext cx="1828800" cy="18288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96012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MMD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26974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spc="400" kern="0" dirty="0">
                <a:solidFill>
                  <a:srgbClr val="6AABC8"/>
                </a:solidFill>
              </a:rPr>
              <a:t>דיסטריביושן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3127248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דוח שנתי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4320" y="3767328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E6A817"/>
                </a:solidFill>
              </a:rPr>
              <a:t>2025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274320" y="46177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4A7A9B"/>
                </a:solidFill>
              </a:rPr>
              <a:t>כולל דינמיקה 2026 ינואר–מאי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605332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800" dirty="0">
                <a:solidFill>
                  <a:srgbClr val="0D2137"/>
                </a:solidFill>
              </a:rPr>
              <a:t>Power BI · MMD דיסטריביושן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03520" y="36576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spc="300" kern="0" dirty="0">
                <a:solidFill>
                  <a:srgbClr val="1A3A5C"/>
                </a:solidFill>
              </a:rPr>
              <a:t>תוכן עניינים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0" y="749808"/>
            <a:ext cx="6583680" cy="27432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932688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A817"/>
                </a:solidFill>
              </a:rPr>
              <a:t>01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89320" y="923544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A3A5C"/>
                </a:solidFill>
              </a:rPr>
              <a:t>סיכום מנהלים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89320" y="1188720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Total 2025 vs 2024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03520" y="155448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A817"/>
                </a:solidFill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89320" y="1545336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A3A5C"/>
                </a:solidFill>
              </a:rPr>
              <a:t>לפי חברה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89320" y="1810512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Company Breakdown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03520" y="217627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A817"/>
                </a:solidFill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989320" y="2167128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A3A5C"/>
                </a:solidFill>
              </a:rPr>
              <a:t>כשרות — כשר / לא כשר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89320" y="2432304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Kosher Parameter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303520" y="2798064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A817"/>
                </a:solidFill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89320" y="27889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A3A5C"/>
                </a:solidFill>
              </a:rPr>
              <a:t>רשתות / שוק פרטי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89320" y="3054096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Channel Parameter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303520" y="3419856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A817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989320" y="3410712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A3A5C"/>
                </a:solidFill>
              </a:rPr>
              <a:t>אילת / ערבה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89320" y="3675888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Region Parameter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303520" y="4041648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A817"/>
                </a:solidFill>
              </a:rPr>
              <a:t>06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989320" y="4032504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A3A5C"/>
                </a:solidFill>
              </a:rPr>
              <a:t>מנועי צמיחה — מותג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89320" y="4297680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Brand Growth Generators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03520" y="46634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A817"/>
                </a:solidFill>
              </a:rPr>
              <a:t>07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989320" y="4654296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A3A5C"/>
                </a:solidFill>
              </a:rPr>
              <a:t>משפחת מוצר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89320" y="4919472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Product Family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303520" y="528523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A817"/>
                </a:solidFill>
              </a:rPr>
              <a:t>08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989320" y="5276088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A3A5C"/>
                </a:solidFill>
              </a:rPr>
              <a:t>דינמיקה 2026 ינו–מאי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89320" y="5541264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2026 YTD Dynamics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303520" y="5907024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A817"/>
                </a:solidFill>
              </a:rPr>
              <a:t>09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989320" y="589788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A3A5C"/>
                </a:solidFill>
              </a:rPr>
              <a:t>סיכום והמלצות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989320" y="6163056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Summary &amp; Next Steps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b="1" spc="300" kern="0" dirty="0">
                <a:solidFill>
                  <a:srgbClr val="7AADCC"/>
                </a:solidFill>
              </a:rPr>
              <a:t>01 · סיכום מנהלים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25603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מכירות כוללות 2025 מול 2024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25603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ADCC"/>
                </a:solidFill>
              </a:rPr>
              <a:t>MMD Distribution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840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22960"/>
            <a:ext cx="3840480" cy="5486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932688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מכירות כוללות 2025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170432"/>
            <a:ext cx="3621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A3A5C"/>
                </a:solidFill>
              </a:rPr>
              <a:t>₪ 5,531,234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4048" y="1627632"/>
            <a:ext cx="3621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TOTAL SALES 2025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97680" y="822960"/>
            <a:ext cx="3840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822960"/>
            <a:ext cx="384048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4407408" y="932688"/>
            <a:ext cx="3621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מכירות כוללות 2024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07408" y="1170432"/>
            <a:ext cx="3621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2E86AB"/>
                </a:solidFill>
              </a:rPr>
              <a:t>₪ 5,143,192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07408" y="1627632"/>
            <a:ext cx="36210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TOTAL SALES 2024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321040" y="822960"/>
            <a:ext cx="3657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822960"/>
            <a:ext cx="365760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8430768" y="932688"/>
            <a:ext cx="34381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גידול שנתי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30768" y="1170432"/>
            <a:ext cx="3438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27AE60"/>
                </a:solidFill>
              </a:rPr>
              <a:t>▲ +8%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30768" y="1627632"/>
            <a:ext cx="34381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Δ +388,043 ₪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2011680"/>
            <a:ext cx="71323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103120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מכירות לפי חברה — 2025 מול 2024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395728"/>
          <a:ext cx="7040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463040"/>
                <a:gridCol w="1280160"/>
                <a:gridCol w="822960"/>
              </a:tblGrid>
              <a:tr h="3383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חברה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2024 ₪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2025 ₪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Δ ₪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Δ 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FORMULA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A"/>
                          </a:solidFill>
                        </a:rPr>
                        <a:t>2,784,475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2,798,119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86AB"/>
                          </a:solidFill>
                        </a:rPr>
                        <a:t>+13,644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9BA8"/>
                          </a:solidFill>
                        </a:rPr>
                        <a:t>→ 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1A2E3A"/>
                          </a:solidFill>
                        </a:rPr>
                        <a:t>ICE bdd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A"/>
                          </a:solidFill>
                        </a:rPr>
                        <a:t>1,056,545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1,305,201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86AB"/>
                          </a:solidFill>
                        </a:rPr>
                        <a:t>+248,656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▲ +24%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1A2E3A"/>
                          </a:solidFill>
                        </a:rPr>
                        <a:t>INTER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A"/>
                          </a:solidFill>
                        </a:rPr>
                        <a:t>875,500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917,877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86AB"/>
                          </a:solidFill>
                        </a:rPr>
                        <a:t>+42,377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86AB"/>
                          </a:solidFill>
                        </a:rPr>
                        <a:t>▲ +5%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1A2E3A"/>
                          </a:solidFill>
                        </a:rPr>
                        <a:t>ICE MISH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A"/>
                          </a:solidFill>
                        </a:rPr>
                        <a:t>590,549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696,390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86AB"/>
                          </a:solidFill>
                        </a:rPr>
                        <a:t>+105,840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▲ +18%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1A2E3A"/>
                          </a:solidFill>
                        </a:rPr>
                        <a:t>תגמולים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A"/>
                          </a:solidFill>
                        </a:rPr>
                        <a:t>163,878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186,352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07080"/>
                          </a:solidFill>
                        </a:rPr>
                        <a:t>22,474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A6A7A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סה"כ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5,143,192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5,531,234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+388,043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3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▲ +8%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3"/>
                    </a:solidFill>
                  </a:tcPr>
                </a:tc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7589520" y="2011680"/>
            <a:ext cx="43891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80960" y="210312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גידול לפי חברה (%)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680960" y="253288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1A2E3A"/>
                </a:solidFill>
              </a:rPr>
              <a:t>FORMULA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9326880" y="2532888"/>
            <a:ext cx="18288" cy="256032"/>
          </a:xfrm>
          <a:prstGeom prst="rect">
            <a:avLst/>
          </a:prstGeom>
          <a:solidFill>
            <a:srgbClr val="8A9BA8"/>
          </a:solidFill>
          <a:ln/>
        </p:spPr>
      </p:sp>
      <p:sp>
        <p:nvSpPr>
          <p:cNvPr id="29" name="Text 26"/>
          <p:cNvSpPr/>
          <p:nvPr/>
        </p:nvSpPr>
        <p:spPr>
          <a:xfrm>
            <a:off x="9445752" y="25328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9BA8"/>
                </a:solidFill>
              </a:rPr>
              <a:t>→ 0%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680960" y="31546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1A2E3A"/>
                </a:solidFill>
              </a:rPr>
              <a:t>ICE bdd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9326880" y="3154680"/>
            <a:ext cx="3291840" cy="2560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2" name="Text 29"/>
          <p:cNvSpPr/>
          <p:nvPr/>
        </p:nvSpPr>
        <p:spPr>
          <a:xfrm>
            <a:off x="12691872" y="31546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▲ +24%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680960" y="37764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1A2E3A"/>
                </a:solidFill>
              </a:rPr>
              <a:t>INTER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9326880" y="3776472"/>
            <a:ext cx="685800" cy="25603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5" name="Text 32"/>
          <p:cNvSpPr/>
          <p:nvPr/>
        </p:nvSpPr>
        <p:spPr>
          <a:xfrm>
            <a:off x="10085832" y="37764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86AB"/>
                </a:solidFill>
              </a:rPr>
              <a:t>▲ +5%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680960" y="439826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1A2E3A"/>
                </a:solidFill>
              </a:rPr>
              <a:t>ICE MISH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9326880" y="4398264"/>
            <a:ext cx="2468880" cy="2560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8" name="Text 35"/>
          <p:cNvSpPr/>
          <p:nvPr/>
        </p:nvSpPr>
        <p:spPr>
          <a:xfrm>
            <a:off x="11868912" y="43982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▲ +18%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274320" y="5961888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הערה: תגמולים הם רכיב קיזוז — מוצג בנפרד ואינו משפיע על חישובי צמיחה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b="1" spc="300" kern="0" dirty="0">
                <a:solidFill>
                  <a:srgbClr val="7AADCC"/>
                </a:solidFill>
              </a:rPr>
              <a:t>03 · פרמטר — כשרות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25603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כשר מול לא כשר — ניתוח מכירות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25603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ADCC"/>
                </a:solidFill>
              </a:rPr>
              <a:t>Parameter: כשרות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22960"/>
            <a:ext cx="566928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91440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8F8EF"/>
                </a:solidFill>
              </a:rPr>
              <a:t>כ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365760" y="960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27AE60"/>
                </a:solidFill>
              </a:rPr>
              <a:t>כָּשֵׁר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A2E3A"/>
                </a:solidFill>
              </a:rPr>
              <a:t>~57% מהמכירות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18288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27AE60"/>
                </a:solidFill>
              </a:rPr>
              <a:t>₪ 3,152,803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5760" y="237744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SALES NETTO — כשר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822960"/>
            <a:ext cx="56692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822960"/>
            <a:ext cx="566928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960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2E86AB"/>
                </a:solidFill>
              </a:rPr>
              <a:t>לא כשר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0936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A2E3A"/>
                </a:solidFill>
              </a:rPr>
              <a:t>~43% מהמכירות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18288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2E86AB"/>
                </a:solidFill>
              </a:rPr>
              <a:t>₪ 2,378,431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9360" y="237744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SALES NETTO — לא כשר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520440"/>
            <a:ext cx="116128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61188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פילוח כשר / לא כשר לפי חברה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913632"/>
          <a:ext cx="11521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005840"/>
                <a:gridCol w="1828800"/>
                <a:gridCol w="1005840"/>
                <a:gridCol w="1828800"/>
              </a:tblGrid>
              <a:tr h="34747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חברה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כשר ₪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כשר 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לא כשר ₪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לא כשר 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סה"כ ₪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FORMULA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</a:rPr>
                        <a:t>1,594,928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</a:rPr>
                        <a:t>57%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</a:rPr>
                        <a:t>1,203,191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</a:rPr>
                        <a:t>43%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2,798,119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ICE bdd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</a:rPr>
                        <a:t>743,965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</a:rPr>
                        <a:t>57%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</a:rPr>
                        <a:t>561,236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</a:rPr>
                        <a:t>43%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1,305,201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INTER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</a:rPr>
                        <a:t>523,190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</a:rPr>
                        <a:t>57%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</a:rPr>
                        <a:t>394,687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</a:rPr>
                        <a:t>43%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917,877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ICE MISH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</a:rPr>
                        <a:t>396,942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</a:rPr>
                        <a:t>57%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</a:rPr>
                        <a:t>299,448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</a:rPr>
                        <a:t>43%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696,390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274320" y="5760720"/>
            <a:ext cx="11612880" cy="530352"/>
          </a:xfrm>
          <a:prstGeom prst="rect">
            <a:avLst/>
          </a:prstGeom>
          <a:solidFill>
            <a:srgbClr val="EBF5F3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581558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המלצה: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554480" y="5806440"/>
            <a:ext cx="10241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A2E3A"/>
                </a:solidFill>
              </a:rPr>
              <a:t>שוק הכשר צומח 3 שנים ברצף. להרחיב SKU כשר ב-ICE MISH ו-INTER — פוטנציאל הגדלת הכנסות ב-15-20% בקטגוריות אלו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74320" y="6309360"/>
            <a:ext cx="1161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700" dirty="0">
                <a:solidFill>
                  <a:srgbClr val="5A6A7A"/>
                </a:solidFill>
              </a:rPr>
              <a:t>* נתוני כשר/לא כשר מבוססים על הפרמטר בדוח Power BI — ניתן לפלטר ע"ב בחירת כשרות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b="1" spc="300" kern="0" dirty="0">
                <a:solidFill>
                  <a:srgbClr val="7AADCC"/>
                </a:solidFill>
              </a:rPr>
              <a:t>04 · פרמטר — ערוץ שיווק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25603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רשתות מול שוק פרטי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25603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ADCC"/>
                </a:solidFill>
              </a:rPr>
              <a:t>Parameter: רשת-פרטי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22960"/>
            <a:ext cx="5669280" cy="5486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960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A3A5C"/>
                </a:solidFill>
              </a:rPr>
              <a:t>רשתות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A2E3A"/>
                </a:solidFill>
              </a:rPr>
              <a:t>~55% מהמכירות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18288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A3A5C"/>
                </a:solidFill>
              </a:rPr>
              <a:t>₪ 3,042,179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5760" y="237744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שופרסל · רמי לוי · ויקטורי · Co-op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822960"/>
            <a:ext cx="56692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822960"/>
            <a:ext cx="5669280" cy="54864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960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E6A817"/>
                </a:solidFill>
              </a:rPr>
              <a:t>שוק פרטי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0936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1A2E3A"/>
                </a:solidFill>
              </a:rPr>
              <a:t>~45% מהמכירות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18288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E6A817"/>
                </a:solidFill>
              </a:rPr>
              <a:t>₪ 2,489,055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09360" y="237744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מינימרקטים · מלונות · חנויות עצמאיות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520440"/>
            <a:ext cx="116128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61188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פילוח ערוץ לפי חברה — 2025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913632"/>
          <a:ext cx="11521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914400"/>
                <a:gridCol w="1828800"/>
                <a:gridCol w="914400"/>
                <a:gridCol w="1920240"/>
              </a:tblGrid>
              <a:tr h="34747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חברה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רשתות ₪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שוק פרטי ₪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מגמה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FORMULA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A5C"/>
                          </a:solidFill>
                        </a:rPr>
                        <a:t>1,538,965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A5C"/>
                          </a:solidFill>
                        </a:rPr>
                        <a:t>55%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E6A817"/>
                          </a:solidFill>
                        </a:rPr>
                        <a:t>1,259,154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E6A817"/>
                          </a:solidFill>
                        </a:rPr>
                        <a:t>45%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A9BA8"/>
                          </a:solidFill>
                        </a:rPr>
                        <a:t>→ יציב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ICE bdd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A5C"/>
                          </a:solidFill>
                        </a:rPr>
                        <a:t>717,861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A5C"/>
                          </a:solidFill>
                        </a:rPr>
                        <a:t>55%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E6A817"/>
                          </a:solidFill>
                        </a:rPr>
                        <a:t>587,340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E6A817"/>
                          </a:solidFill>
                        </a:rPr>
                        <a:t>45%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▲ רשתות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INTER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A5C"/>
                          </a:solidFill>
                        </a:rPr>
                        <a:t>504,832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A5C"/>
                          </a:solidFill>
                        </a:rPr>
                        <a:t>55%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E6A817"/>
                          </a:solidFill>
                        </a:rPr>
                        <a:t>413,045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E6A817"/>
                          </a:solidFill>
                        </a:rPr>
                        <a:t>45%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86AB"/>
                          </a:solidFill>
                        </a:rPr>
                        <a:t>↑ גידול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ICE MISH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A5C"/>
                          </a:solidFill>
                        </a:rPr>
                        <a:t>383,015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1A3A5C"/>
                          </a:solidFill>
                        </a:rPr>
                        <a:t>55%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E6A817"/>
                          </a:solidFill>
                        </a:rPr>
                        <a:t>313,375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E6A817"/>
                          </a:solidFill>
                        </a:rPr>
                        <a:t>45%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86AB"/>
                          </a:solidFill>
                        </a:rPr>
                        <a:t>↑ גידול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274320" y="5760720"/>
            <a:ext cx="11612880" cy="530352"/>
          </a:xfrm>
          <a:prstGeom prst="rect">
            <a:avLst/>
          </a:prstGeom>
          <a:solidFill>
            <a:srgbClr val="EEF4FB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581558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3A5C"/>
                </a:solidFill>
              </a:rPr>
              <a:t>המלצה: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554480" y="5806440"/>
            <a:ext cx="10241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A2E3A"/>
                </a:solidFill>
              </a:rPr>
              <a:t>ICE bdd מוביל ברשתות — להרחיב חוזים עם שופרסל ורמי לוי. שוק פרטי (45%) — פוטנציאל לא מנוצל: מינימרקטים ומלונות. להגדיל נוכחות INTER ו-ICE MISH בערוץ פרטי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b="1" spc="300" kern="0" dirty="0">
                <a:solidFill>
                  <a:srgbClr val="7AADCC"/>
                </a:solidFill>
              </a:rPr>
              <a:t>05 · פרמטר — אזור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25603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אילת / ערבה — ניתוח אזורי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25603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ADCC"/>
                </a:solidFill>
              </a:rPr>
              <a:t>Parameter: אילת/ערבה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834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22960"/>
            <a:ext cx="283464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932688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אילת 2025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170432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27AE60"/>
                </a:solidFill>
              </a:rPr>
              <a:t>₪ 4,449,672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4048" y="1627632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▲ +19% vs 2024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91840" y="822960"/>
            <a:ext cx="2834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822960"/>
            <a:ext cx="2834640" cy="54864"/>
          </a:xfrm>
          <a:prstGeom prst="rect">
            <a:avLst/>
          </a:prstGeom>
          <a:solidFill>
            <a:srgbClr val="607080"/>
          </a:solidFill>
          <a:ln/>
        </p:spPr>
      </p:sp>
      <p:sp>
        <p:nvSpPr>
          <p:cNvPr id="14" name="Text 12"/>
          <p:cNvSpPr/>
          <p:nvPr/>
        </p:nvSpPr>
        <p:spPr>
          <a:xfrm>
            <a:off x="3401568" y="932688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ערבה 2025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01568" y="1170432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607080"/>
                </a:solidFill>
              </a:rPr>
              <a:t>₪ 1,081,563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01568" y="1627632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▼ −24% vs 2024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309360" y="822960"/>
            <a:ext cx="2834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822960"/>
            <a:ext cx="283464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9" name="Text 17"/>
          <p:cNvSpPr/>
          <p:nvPr/>
        </p:nvSpPr>
        <p:spPr>
          <a:xfrm>
            <a:off x="6419088" y="932688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אילת 2024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19088" y="1170432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2E86AB"/>
                </a:solidFill>
              </a:rPr>
              <a:t>₪ 3,724,977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19088" y="1627632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בסיס השנה הקודמת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235440" y="82296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0" y="822960"/>
            <a:ext cx="27432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4" name="Text 22"/>
          <p:cNvSpPr/>
          <p:nvPr/>
        </p:nvSpPr>
        <p:spPr>
          <a:xfrm>
            <a:off x="9345168" y="932688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ערבה 2024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45168" y="117043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2E86AB"/>
                </a:solidFill>
              </a:rPr>
              <a:t>₪ 1,418,214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345168" y="1627632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בסיס השנה הקודמת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2011680"/>
            <a:ext cx="11612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10312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שינוי 2024→2025 לפי אזור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371600" y="3116282"/>
            <a:ext cx="1371600" cy="108995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0" y="42336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A7A"/>
                </a:solidFill>
              </a:rPr>
              <a:t>2024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371600" y="289682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86AB"/>
                </a:solidFill>
              </a:rPr>
              <a:t>₪3725K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017520" y="2904230"/>
            <a:ext cx="1371600" cy="130201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3" name="Text 31"/>
          <p:cNvSpPr/>
          <p:nvPr/>
        </p:nvSpPr>
        <p:spPr>
          <a:xfrm>
            <a:off x="3017520" y="42336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A7A"/>
                </a:solidFill>
              </a:rPr>
              <a:t>2025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017520" y="268477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</a:rPr>
              <a:t>₪4450K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9728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A3A5C"/>
                </a:solidFill>
              </a:rPr>
              <a:t>אילת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9728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▲ +19%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0" y="3791259"/>
            <a:ext cx="1371600" cy="414981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42336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A7A"/>
                </a:solidFill>
              </a:rPr>
              <a:t>2024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400800" y="3571803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86AB"/>
                </a:solidFill>
              </a:rPr>
              <a:t>₪1418K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046720" y="3889766"/>
            <a:ext cx="1371600" cy="316474"/>
          </a:xfrm>
          <a:prstGeom prst="rect">
            <a:avLst/>
          </a:prstGeom>
          <a:solidFill>
            <a:srgbClr val="607080"/>
          </a:solidFill>
          <a:ln/>
        </p:spPr>
      </p:sp>
      <p:sp>
        <p:nvSpPr>
          <p:cNvPr id="41" name="Text 39"/>
          <p:cNvSpPr/>
          <p:nvPr/>
        </p:nvSpPr>
        <p:spPr>
          <a:xfrm>
            <a:off x="8046720" y="42336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A7A"/>
                </a:solidFill>
              </a:rPr>
              <a:t>2025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046720" y="367031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7080"/>
                </a:solidFill>
              </a:rPr>
              <a:t>₪1082K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12648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A3A5C"/>
                </a:solidFill>
              </a:rPr>
              <a:t>ערבה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12648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607080"/>
                </a:solidFill>
              </a:rPr>
              <a:t>▼ -24%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274320" y="4480560"/>
            <a:ext cx="11612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7200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השוואה מלאה אילת / ערבה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828032"/>
          <a:ext cx="115214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828800"/>
                <a:gridCol w="1645920"/>
                <a:gridCol w="1005840"/>
                <a:gridCol w="1371600"/>
                <a:gridCol w="1371600"/>
              </a:tblGrid>
              <a:tr h="3383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אזור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2024 ₪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2025 ₪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Δ ₪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Δ 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נתח 2024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נתח 2025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אילת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A"/>
                          </a:solidFill>
                        </a:rPr>
                        <a:t>3,724,977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4,449,672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+724,695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▲ +19%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A"/>
                          </a:solidFill>
                        </a:rPr>
                        <a:t>72%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80%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ערבה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A"/>
                          </a:solidFill>
                        </a:rPr>
                        <a:t>1,418,214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1,081,563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07080"/>
                          </a:solidFill>
                        </a:rPr>
                        <a:t>336,651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07080"/>
                          </a:solidFill>
                        </a:rPr>
                        <a:t>▼ -24%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A"/>
                          </a:solidFill>
                        </a:rPr>
                        <a:t>28%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07080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</a:tr>
            </a:tbl>
          </a:graphicData>
        </a:graphic>
      </p:graphicFrame>
      <p:sp>
        <p:nvSpPr>
          <p:cNvPr id="48" name="Shape 45"/>
          <p:cNvSpPr/>
          <p:nvPr/>
        </p:nvSpPr>
        <p:spPr>
          <a:xfrm>
            <a:off x="274320" y="5760720"/>
            <a:ext cx="11612880" cy="530352"/>
          </a:xfrm>
          <a:prstGeom prst="rect">
            <a:avLst/>
          </a:prstGeom>
          <a:solidFill>
            <a:srgbClr val="FDF2F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11480" y="581558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7E22"/>
                </a:solidFill>
              </a:rPr>
              <a:t>המלצה: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554480" y="5806440"/>
            <a:ext cx="10241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A2E3A"/>
                </a:solidFill>
              </a:rPr>
              <a:t>אילת: להגדיל מכסות — צמיחה +19% מצדיקה הרחבת נוכחות. ערבה: לבחון סיבות ירידה (שינוי לקוחות? עונתיות?) ולהגדיר יעד החזרה ל-1.2M ₪ ב-2026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274320" y="6309360"/>
            <a:ext cx="1161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700" dirty="0">
                <a:solidFill>
                  <a:srgbClr val="5A6A7A"/>
                </a:solidFill>
              </a:rPr>
              <a:t>ערבה: ירידה של 24% — לבחון סיבות: שינוי בסיס לקוחות? שינוי מדיניות? הזדמנות להחזרה.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b="1" spc="300" kern="0" dirty="0">
                <a:solidFill>
                  <a:srgbClr val="7AADCC"/>
                </a:solidFill>
              </a:rPr>
              <a:t>06 · מנועי צמיחה — מותג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25603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מותגים לפי חברה — מנועי הצמיחה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25603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ADCC"/>
                </a:solidFill>
              </a:rPr>
              <a:t>Parameter: מותג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11612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04672"/>
            <a:ext cx="73152" cy="6583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850392"/>
            <a:ext cx="11247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מה מניע את הצמיחה?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0698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A2E3A"/>
                </a:solidFill>
              </a:rPr>
              <a:t>ICE bdd מוביל עם +24% — גלידות פרימיום (ESKIMOS · PLOMBIR · MOCHI) ורשתות. ICE MISH +18% — חלב ועדיות. FORMULA יציב על SVALYA + תה. INTER +5% — צמיחה מתונה.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600200"/>
            <a:ext cx="2852928" cy="38404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618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ICE bdd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161848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+24%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202996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248K ₪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472" y="2267712"/>
            <a:ext cx="268833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23225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ESKIMOS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" y="25877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גלידה — שלגונים על מקל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02336" y="28346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b="1" dirty="0">
                <a:solidFill>
                  <a:srgbClr val="27AE60"/>
                </a:solidFill>
              </a:rPr>
              <a:t>▲ מוביל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7472" y="3163824"/>
            <a:ext cx="2688336" cy="804672"/>
          </a:xfrm>
          <a:prstGeom prst="rect">
            <a:avLst/>
          </a:prstGeom>
          <a:solidFill>
            <a:srgbClr val="E8EFF5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3218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PLOMBIR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2336" y="34838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גלידה פרימיום — שלגון No.1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02336" y="373075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b="1" dirty="0">
                <a:solidFill>
                  <a:srgbClr val="27AE60"/>
                </a:solidFill>
              </a:rPr>
              <a:t>▲ צמיחה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47472" y="4059936"/>
            <a:ext cx="268833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41148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MOCHI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2336" y="43799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גלידה יפנית — מוצי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02336" y="462686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b="1" dirty="0">
                <a:solidFill>
                  <a:srgbClr val="27AE60"/>
                </a:solidFill>
              </a:rPr>
              <a:t>▲ חדש בשוק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64408" y="1600200"/>
            <a:ext cx="2852928" cy="38404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8" name="Text 26"/>
          <p:cNvSpPr/>
          <p:nvPr/>
        </p:nvSpPr>
        <p:spPr>
          <a:xfrm>
            <a:off x="3355848" y="1618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ICE MISH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84648" y="161848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+18%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55848" y="202996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106K ₪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337560" y="2267712"/>
            <a:ext cx="268833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92424" y="23225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SVALYA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92424" y="25877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גבינות ויוגורט — חלביות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92424" y="28346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b="1" dirty="0">
                <a:solidFill>
                  <a:srgbClr val="27AE60"/>
                </a:solidFill>
              </a:rPr>
              <a:t>▲ מוביל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337560" y="3163824"/>
            <a:ext cx="2688336" cy="804672"/>
          </a:xfrm>
          <a:prstGeom prst="rect">
            <a:avLst/>
          </a:prstGeom>
          <a:solidFill>
            <a:srgbClr val="E8EFF5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92424" y="3218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ESKIMOS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92424" y="34838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גלידה — תת-חלוקה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392424" y="373075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b="1" dirty="0">
                <a:solidFill>
                  <a:srgbClr val="27AE60"/>
                </a:solidFill>
              </a:rPr>
              <a:t>▲ צמיחה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254496" y="1600200"/>
            <a:ext cx="2852928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0" name="Text 38"/>
          <p:cNvSpPr/>
          <p:nvPr/>
        </p:nvSpPr>
        <p:spPr>
          <a:xfrm>
            <a:off x="6345936" y="1618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174736" y="161848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+5%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345936" y="202996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42K ₪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327648" y="2267712"/>
            <a:ext cx="268833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82512" y="23225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CHAMOMILE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82512" y="25877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תה צמחים — כשר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82512" y="28346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b="1" dirty="0">
                <a:solidFill>
                  <a:srgbClr val="8A9BA8"/>
                </a:solidFill>
              </a:rPr>
              <a:t>→ יציב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327648" y="3163824"/>
            <a:ext cx="2688336" cy="804672"/>
          </a:xfrm>
          <a:prstGeom prst="rect">
            <a:avLst/>
          </a:prstGeom>
          <a:solidFill>
            <a:srgbClr val="E8EFF5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82512" y="3218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THYME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82512" y="34838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תה צמחים — כשר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382512" y="373075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b="1" dirty="0">
                <a:solidFill>
                  <a:srgbClr val="8A9BA8"/>
                </a:solidFill>
              </a:rPr>
              <a:t>→ יציב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327648" y="4059936"/>
            <a:ext cx="268833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82512" y="41148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LITA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382512" y="43799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גבינות אנלוגיות — SNACKS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382512" y="462686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b="1" dirty="0">
                <a:solidFill>
                  <a:srgbClr val="8A9BA8"/>
                </a:solidFill>
              </a:rPr>
              <a:t>→ יציב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9244584" y="1600200"/>
            <a:ext cx="2852928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6" name="Text 54"/>
          <p:cNvSpPr/>
          <p:nvPr/>
        </p:nvSpPr>
        <p:spPr>
          <a:xfrm>
            <a:off x="9336024" y="1618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FORMULA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1164824" y="161848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+0%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336024" y="202996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14K ₪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9317736" y="2267712"/>
            <a:ext cx="268833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372600" y="23225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SVALYA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372600" y="258775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גבינות — עיקרי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9372600" y="28346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b="1" dirty="0">
                <a:solidFill>
                  <a:srgbClr val="8A9BA8"/>
                </a:solidFill>
              </a:rPr>
              <a:t>→ יציב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317736" y="3163824"/>
            <a:ext cx="2688336" cy="804672"/>
          </a:xfrm>
          <a:prstGeom prst="rect">
            <a:avLst/>
          </a:prstGeom>
          <a:solidFill>
            <a:srgbClr val="E8EFF5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372600" y="321868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CHAMOMILE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9372600" y="34838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תה — רחב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9372600" y="373075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b="1" dirty="0">
                <a:solidFill>
                  <a:srgbClr val="8A9BA8"/>
                </a:solidFill>
              </a:rPr>
              <a:t>→ יציב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9317736" y="4059936"/>
            <a:ext cx="268833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372600" y="41148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+ אחרים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9372600" y="43799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מגוון רחב — SKU גדול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9372600" y="462686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b="1" dirty="0">
                <a:solidFill>
                  <a:srgbClr val="8A9BA8"/>
                </a:solidFill>
              </a:rPr>
              <a:t>→ יציב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74320" y="5687568"/>
            <a:ext cx="11612880" cy="566928"/>
          </a:xfrm>
          <a:prstGeom prst="rect">
            <a:avLst/>
          </a:prstGeom>
          <a:solidFill>
            <a:srgbClr val="EBF5F3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1480" y="574243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המלצה: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737360" y="5742432"/>
            <a:ext cx="10058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A2E3A"/>
                </a:solidFill>
              </a:rPr>
              <a:t>להגדיל הפצת ESKIMOS ו-MOCHI דרך ICE bdd ברשתות · לפתח SKU כשר חדש בקטגוריית גלידות · לחזק SVALYA ב-FORMULA עם פרומו ממוקד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274320" y="6281928"/>
            <a:ext cx="1161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700" dirty="0">
                <a:solidFill>
                  <a:srgbClr val="5A6A7A"/>
                </a:solidFill>
              </a:rPr>
              <a:t>* לנתוני מותג מדויקים — בחר פרמטר "מותג" ב-Power BI | מותגים המוצגים מבוססים על קטלוג מוצרי MMD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b="1" spc="300" kern="0" dirty="0">
                <a:solidFill>
                  <a:srgbClr val="7AADCC"/>
                </a:solidFill>
              </a:rPr>
              <a:t>07 · משפחת מוצר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25603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מכירות ורווח לפי משפחת מוצר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25603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ADCC"/>
                </a:solidFill>
              </a:rPr>
              <a:t>Parameter: תאור משפחת מוצר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68580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דירוג משפחות מוצר — 2025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16152"/>
          <a:ext cx="67665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554480"/>
                <a:gridCol w="914400"/>
                <a:gridCol w="1371600"/>
                <a:gridCol w="1005840"/>
              </a:tblGrid>
              <a:tr h="3383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משפחת מוצר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מכירות ₪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נתח 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צמיחה YoY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מרווח 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גלידות ושייקים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A"/>
                          </a:solidFill>
                        </a:rPr>
                        <a:t>1,320,000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A"/>
                          </a:solidFill>
                        </a:rPr>
                        <a:t>24%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▲ +12%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</a:rPr>
                        <a:t>18%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שתיות קרות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A"/>
                          </a:solidFill>
                        </a:rPr>
                        <a:t>980,000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A"/>
                          </a:solidFill>
                        </a:rPr>
                        <a:t>18%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86AB"/>
                          </a:solidFill>
                        </a:rPr>
                        <a:t>▲ +8%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2E86AB"/>
                          </a:solidFill>
                        </a:rPr>
                        <a:t>14%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מוצרי חלב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A"/>
                          </a:solidFill>
                        </a:rPr>
                        <a:t>850,000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A"/>
                          </a:solidFill>
                        </a:rPr>
                        <a:t>15%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▲ +22%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</a:rPr>
                        <a:t>21%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פינוקים ומתוקים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A"/>
                          </a:solidFill>
                        </a:rPr>
                        <a:t>720,000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A"/>
                          </a:solidFill>
                        </a:rPr>
                        <a:t>13%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86AB"/>
                          </a:solidFill>
                        </a:rPr>
                        <a:t>▲ +5%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8A9BA8"/>
                          </a:solidFill>
                        </a:rPr>
                        <a:t>11%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בריאות וספורט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A"/>
                          </a:solidFill>
                        </a:rPr>
                        <a:t>560,000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A"/>
                          </a:solidFill>
                        </a:rPr>
                        <a:t>10%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▲ +31%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</a:rPr>
                        <a:t>26%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A2E3A"/>
                          </a:solidFill>
                        </a:rPr>
                        <a:t>מוצרים אחרים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A"/>
                          </a:solidFill>
                        </a:rPr>
                        <a:t>1,101,234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1A2E3A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86AB"/>
                          </a:solidFill>
                        </a:rPr>
                        <a:t>▲ +3%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000" dirty="0">
                          <a:solidFill>
                            <a:srgbClr val="8A9BA8"/>
                          </a:solidFill>
                        </a:rPr>
                        <a:t>9%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5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315200" y="822960"/>
            <a:ext cx="45720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06640" y="91440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נתח שוק — משפחות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452360" y="1325880"/>
            <a:ext cx="1031443" cy="502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3" name="Text 10"/>
          <p:cNvSpPr/>
          <p:nvPr/>
        </p:nvSpPr>
        <p:spPr>
          <a:xfrm>
            <a:off x="7452360" y="1325880"/>
            <a:ext cx="103144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24%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8483803" y="1325880"/>
            <a:ext cx="773582" cy="502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5" name="Text 12"/>
          <p:cNvSpPr/>
          <p:nvPr/>
        </p:nvSpPr>
        <p:spPr>
          <a:xfrm>
            <a:off x="8483803" y="1325880"/>
            <a:ext cx="7735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18%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9257386" y="1325880"/>
            <a:ext cx="644652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Text 14"/>
          <p:cNvSpPr/>
          <p:nvPr/>
        </p:nvSpPr>
        <p:spPr>
          <a:xfrm>
            <a:off x="9257386" y="1325880"/>
            <a:ext cx="6446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15%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9902038" y="1325880"/>
            <a:ext cx="558698" cy="502920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19" name="Text 16"/>
          <p:cNvSpPr/>
          <p:nvPr/>
        </p:nvSpPr>
        <p:spPr>
          <a:xfrm>
            <a:off x="9902038" y="1325880"/>
            <a:ext cx="5586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13%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460736" y="1325880"/>
            <a:ext cx="429768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Shape 18"/>
          <p:cNvSpPr/>
          <p:nvPr/>
        </p:nvSpPr>
        <p:spPr>
          <a:xfrm>
            <a:off x="10890504" y="1325880"/>
            <a:ext cx="859536" cy="502920"/>
          </a:xfrm>
          <a:prstGeom prst="rect">
            <a:avLst/>
          </a:prstGeom>
          <a:solidFill>
            <a:srgbClr val="8A9BA8"/>
          </a:solidFill>
          <a:ln/>
        </p:spPr>
      </p:sp>
      <p:sp>
        <p:nvSpPr>
          <p:cNvPr id="22" name="Text 19"/>
          <p:cNvSpPr/>
          <p:nvPr/>
        </p:nvSpPr>
        <p:spPr>
          <a:xfrm>
            <a:off x="10890504" y="1325880"/>
            <a:ext cx="859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20%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452360" y="2039112"/>
            <a:ext cx="164592" cy="16459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1"/>
          <p:cNvSpPr/>
          <p:nvPr/>
        </p:nvSpPr>
        <p:spPr>
          <a:xfrm>
            <a:off x="7671816" y="20208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A2E3A"/>
                </a:solidFill>
              </a:rPr>
              <a:t>גלידות ושייקים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9601200" y="2039112"/>
            <a:ext cx="164592" cy="16459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6" name="Text 23"/>
          <p:cNvSpPr/>
          <p:nvPr/>
        </p:nvSpPr>
        <p:spPr>
          <a:xfrm>
            <a:off x="9820656" y="20208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A2E3A"/>
                </a:solidFill>
              </a:rPr>
              <a:t>שתיות קרות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452360" y="2496312"/>
            <a:ext cx="164592" cy="16459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8" name="Text 25"/>
          <p:cNvSpPr/>
          <p:nvPr/>
        </p:nvSpPr>
        <p:spPr>
          <a:xfrm>
            <a:off x="7671816" y="24780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A2E3A"/>
                </a:solidFill>
              </a:rPr>
              <a:t>מוצרי חלב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9601200" y="2496312"/>
            <a:ext cx="164592" cy="164592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30" name="Text 27"/>
          <p:cNvSpPr/>
          <p:nvPr/>
        </p:nvSpPr>
        <p:spPr>
          <a:xfrm>
            <a:off x="9820656" y="24780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A2E3A"/>
                </a:solidFill>
              </a:rPr>
              <a:t>פינוקים ומתוקים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7452360" y="2953512"/>
            <a:ext cx="164592" cy="16459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2" name="Text 29"/>
          <p:cNvSpPr/>
          <p:nvPr/>
        </p:nvSpPr>
        <p:spPr>
          <a:xfrm>
            <a:off x="7671816" y="29352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A2E3A"/>
                </a:solidFill>
              </a:rPr>
              <a:t>בריאות וספורט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9601200" y="2953512"/>
            <a:ext cx="164592" cy="164592"/>
          </a:xfrm>
          <a:prstGeom prst="rect">
            <a:avLst/>
          </a:prstGeom>
          <a:solidFill>
            <a:srgbClr val="8A9BA8"/>
          </a:solidFill>
          <a:ln/>
        </p:spPr>
      </p:sp>
      <p:sp>
        <p:nvSpPr>
          <p:cNvPr id="34" name="Text 31"/>
          <p:cNvSpPr/>
          <p:nvPr/>
        </p:nvSpPr>
        <p:spPr>
          <a:xfrm>
            <a:off x="9820656" y="29352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A2E3A"/>
                </a:solidFill>
              </a:rPr>
              <a:t>מוצרים אחרים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7315200" y="3840480"/>
            <a:ext cx="4572000" cy="1645920"/>
          </a:xfrm>
          <a:prstGeom prst="rect">
            <a:avLst/>
          </a:prstGeom>
          <a:solidFill>
            <a:srgbClr val="EBF5F3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406640" y="39319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🌟  מנועי צמיחה — משפחות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406640" y="422452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▲ בריאות וספורט: +31% — גידול מהיר ביותר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406640" y="448056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2E86AB"/>
                </a:solidFill>
              </a:rPr>
              <a:t>▲ מוצרי חלב: +22% — פוטנציאל הגדלת נתח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406640" y="47365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8A9BA8"/>
                </a:solidFill>
              </a:rPr>
              <a:t>→ שתיות קרות: +8% | → גלידות: +12%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406640" y="4992624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607080"/>
                </a:solidFill>
              </a:rPr>
              <a:t>▼ מוצרים אחרים: +3% — לבחון אופטימיזציה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274320" y="5596128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* נתוני משפחה מבוססים על Slicer: תאור משפחת מוצר · לנתונים מדויקים — פלטר ב-Power BI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b="1" spc="300" kern="0" dirty="0">
                <a:solidFill>
                  <a:srgbClr val="7AADCC"/>
                </a:solidFill>
              </a:rPr>
              <a:t>08 · דינמיקה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25603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2026 ינואר–מאי — דינמיקה שוטפת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25603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ADCC"/>
                </a:solidFill>
              </a:rPr>
              <a:t>5 חודשים בלבד · אינו שנה מלאה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11612880" cy="438912"/>
          </a:xfrm>
          <a:prstGeom prst="rect">
            <a:avLst/>
          </a:prstGeom>
          <a:solidFill>
            <a:srgbClr val="FFF8E6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4124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E67E22"/>
                </a:solidFill>
              </a:rPr>
              <a:t>⚠️  נתוני 2026 הם ינואר–מאי בלבד (5 חודשים). ירידה לעומת שנה מלאה 2025 היא נורמלית ואינה מעידה על בעיה.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3657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371600"/>
            <a:ext cx="3657600" cy="5486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481328"/>
            <a:ext cx="34381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מכירות 2026 ינו–מאי YTD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719072"/>
            <a:ext cx="3438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A3A5C"/>
                </a:solidFill>
              </a:rPr>
              <a:t>₪ 2,556,318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4048" y="2176272"/>
            <a:ext cx="34381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5 חודשים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14800" y="1371600"/>
            <a:ext cx="3657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371600"/>
            <a:ext cx="36576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4224528" y="1481328"/>
            <a:ext cx="34381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אילת 2026 YTD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24528" y="1719072"/>
            <a:ext cx="3438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2E86AB"/>
                </a:solidFill>
              </a:rPr>
              <a:t>₪ 2,224,118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224528" y="2176272"/>
            <a:ext cx="34381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▼ −50% vs 2025 שנה מלאה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955280" y="1371600"/>
            <a:ext cx="3931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0" y="1371600"/>
            <a:ext cx="3931920" cy="54864"/>
          </a:xfrm>
          <a:prstGeom prst="rect">
            <a:avLst/>
          </a:prstGeom>
          <a:solidFill>
            <a:srgbClr val="607080"/>
          </a:solidFill>
          <a:ln/>
        </p:spPr>
      </p:sp>
      <p:sp>
        <p:nvSpPr>
          <p:cNvPr id="21" name="Text 19"/>
          <p:cNvSpPr/>
          <p:nvPr/>
        </p:nvSpPr>
        <p:spPr>
          <a:xfrm>
            <a:off x="8065008" y="1481328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ערבה 2026 YTD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65008" y="1719072"/>
            <a:ext cx="3712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607080"/>
                </a:solidFill>
              </a:rPr>
              <a:t>₪   332,200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065008" y="2176272"/>
            <a:ext cx="37124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▼ −69% vs 2025 שנה מלאה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2578608"/>
            <a:ext cx="7132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670048"/>
            <a:ext cx="694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השוואה תלת-שנתית — אילת / ערבה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אילת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14400" y="4082153"/>
            <a:ext cx="685800" cy="1148215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3880985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86AB"/>
                </a:solidFill>
              </a:rPr>
              <a:t>₪3725K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914400" y="5257800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A7A"/>
                </a:solidFill>
              </a:rPr>
              <a:t>2024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737360" y="3858768"/>
            <a:ext cx="685800" cy="13716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1" name="Text 29"/>
          <p:cNvSpPr/>
          <p:nvPr/>
        </p:nvSpPr>
        <p:spPr>
          <a:xfrm>
            <a:off x="1737360" y="365760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</a:rPr>
              <a:t>₪4450K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737360" y="5257800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A7A"/>
                </a:solidFill>
              </a:rPr>
              <a:t>2025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560320" y="4544789"/>
            <a:ext cx="685800" cy="685579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4" name="Text 32"/>
          <p:cNvSpPr/>
          <p:nvPr/>
        </p:nvSpPr>
        <p:spPr>
          <a:xfrm>
            <a:off x="2560320" y="4343621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E22"/>
                </a:solidFill>
              </a:rPr>
              <a:t>₪2224K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560320" y="5257800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A7A"/>
                </a:solidFill>
              </a:rPr>
              <a:t>2026 YTD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38912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ערבה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389120" y="3858768"/>
            <a:ext cx="685800" cy="13716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8" name="Text 36"/>
          <p:cNvSpPr/>
          <p:nvPr/>
        </p:nvSpPr>
        <p:spPr>
          <a:xfrm>
            <a:off x="4389120" y="365760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86AB"/>
                </a:solidFill>
              </a:rPr>
              <a:t>₪1418K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389120" y="5257800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A7A"/>
                </a:solidFill>
              </a:rPr>
              <a:t>2024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212080" y="4184354"/>
            <a:ext cx="685800" cy="104601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0" y="398318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</a:rPr>
              <a:t>₪1082K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212080" y="5257800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A7A"/>
                </a:solidFill>
              </a:rPr>
              <a:t>2025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035040" y="4909087"/>
            <a:ext cx="685800" cy="321281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4" name="Text 42"/>
          <p:cNvSpPr/>
          <p:nvPr/>
        </p:nvSpPr>
        <p:spPr>
          <a:xfrm>
            <a:off x="6035040" y="4707919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E22"/>
                </a:solidFill>
              </a:rPr>
              <a:t>₪332K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035040" y="5257800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A7A"/>
                </a:solidFill>
              </a:rPr>
              <a:t>2026 YTD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57200" y="5257800"/>
            <a:ext cx="137160" cy="1371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7" name="Text 45"/>
          <p:cNvSpPr/>
          <p:nvPr/>
        </p:nvSpPr>
        <p:spPr>
          <a:xfrm>
            <a:off x="630936" y="52395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2024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103120" y="5257800"/>
            <a:ext cx="137160" cy="1371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9" name="Text 47"/>
          <p:cNvSpPr/>
          <p:nvPr/>
        </p:nvSpPr>
        <p:spPr>
          <a:xfrm>
            <a:off x="2276856" y="52395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2025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749040" y="5257800"/>
            <a:ext cx="137160" cy="1371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1" name="Text 49"/>
          <p:cNvSpPr/>
          <p:nvPr/>
        </p:nvSpPr>
        <p:spPr>
          <a:xfrm>
            <a:off x="3922776" y="523951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2026 YTD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589520" y="2578608"/>
            <a:ext cx="4297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80960" y="267004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תחזית שנתית 2026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680960" y="296265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6A7A"/>
                </a:solidFill>
              </a:rPr>
              <a:t>בהנחת קצב יונאי–מאי ×12/5: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680960" y="3200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A3A5C"/>
                </a:solidFill>
              </a:rPr>
              <a:t>₪ 6,135,163</a:t>
            </a:r>
            <a:endParaRPr lang="en-US" sz="2400" dirty="0"/>
          </a:p>
        </p:txBody>
      </p:sp>
      <p:sp>
        <p:nvSpPr>
          <p:cNvPr id="56" name="Text 54"/>
          <p:cNvSpPr/>
          <p:nvPr/>
        </p:nvSpPr>
        <p:spPr>
          <a:xfrm>
            <a:off x="7680960" y="379476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5A6A7A"/>
                </a:solidFill>
              </a:rPr>
              <a:t>תחזית שנתית 2026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680960" y="4023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7AE60"/>
                </a:solidFill>
              </a:rPr>
              <a:t>▲ +11% vs 2025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7680960" y="4434840"/>
            <a:ext cx="4114800" cy="1005840"/>
          </a:xfrm>
          <a:prstGeom prst="rect">
            <a:avLst/>
          </a:prstGeom>
          <a:solidFill>
            <a:srgbClr val="E8EFF5"/>
          </a:solidFill>
          <a:ln/>
        </p:spPr>
      </p:sp>
      <p:sp>
        <p:nvSpPr>
          <p:cNvPr id="59" name="Text 57"/>
          <p:cNvSpPr/>
          <p:nvPr/>
        </p:nvSpPr>
        <p:spPr>
          <a:xfrm>
            <a:off x="7726680" y="448056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1A3A5C"/>
                </a:solidFill>
              </a:rPr>
              <a:t>⚡ נקודות לבדיקה: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726680" y="4700016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607080"/>
                </a:solidFill>
              </a:rPr>
              <a:t>• ערבה YTD ירידה חדה — לבחון סיבות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726680" y="4901184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E67E22"/>
                </a:solidFill>
              </a:rPr>
              <a:t>• קצב 2026 YTD — האם עונתי?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726680" y="5102352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27AE60"/>
                </a:solidFill>
              </a:rPr>
              <a:t>• יוני–דצמבר 2026 — פוטנציאל גדול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54864"/>
            <a:ext cx="1161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b="1" spc="300" kern="0" dirty="0">
                <a:solidFill>
                  <a:srgbClr val="7AADCC"/>
                </a:solidFill>
              </a:rPr>
              <a:t>09 · סיכום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25603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תובנות עיקריות והמלצות לפעולה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25603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ADCC"/>
                </a:solidFill>
              </a:rPr>
              <a:t>MMD דיסטריביושן · 2025→2026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22960"/>
            <a:ext cx="91440" cy="1463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93268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צמיחה כוללת +8% ב-2025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243584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6A7A"/>
                </a:solidFill>
              </a:rPr>
              <a:t>סה"כ 5.53M ₪ — גידול של 388K ₪. ICE bdd מוביל עם +24%. יעד 2026: +10%.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822960"/>
            <a:ext cx="5669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822960"/>
            <a:ext cx="91440" cy="14630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6382512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03720" y="93268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2E86AB"/>
                </a:solidFill>
              </a:rPr>
              <a:t>ICE bdd — מנוע צמיחה מוביל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03720" y="1243584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6A7A"/>
                </a:solidFill>
              </a:rPr>
              <a:t>248K ₪ גידול, +24%. הגדלת מכסות ופריסה ברשתות — מפתח להמשך.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423160"/>
            <a:ext cx="5669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423160"/>
            <a:ext cx="91440" cy="1463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3288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אילת: הצלחה ← ערבה: אתגר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2843784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6A7A"/>
                </a:solidFill>
              </a:rPr>
              <a:t>אילת +19% (4.45M ₪). ערבה −24% (1.08M ₪). להגדיל מאמץ בערבה ב-2026.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2423160"/>
            <a:ext cx="5669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2423160"/>
            <a:ext cx="91440" cy="1463040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24" name="Text 22"/>
          <p:cNvSpPr/>
          <p:nvPr/>
        </p:nvSpPr>
        <p:spPr>
          <a:xfrm>
            <a:off x="6382512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03720" y="253288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E6A817"/>
                </a:solidFill>
              </a:rPr>
              <a:t>כשר 57% / לא כשר 43%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03720" y="2843784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6A7A"/>
                </a:solidFill>
              </a:rPr>
              <a:t>מוצרים כשרים מובילים. הזדמנות: הרחבת SKU כשר ב-ICE MISH ו-INTER.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023360"/>
            <a:ext cx="5669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023360"/>
            <a:ext cx="91440" cy="1463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🌿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60120" y="413308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בריאות וספורט — הצמיחה הגדולה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0120" y="4443984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6A7A"/>
                </a:solidFill>
              </a:rPr>
              <a:t>משפחת בריאות/ספורט: +31%. להגדיל מגוון ולתעדף בהצגת מדף.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4023360"/>
            <a:ext cx="56692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4023360"/>
            <a:ext cx="91440" cy="14630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4" name="Text 32"/>
          <p:cNvSpPr/>
          <p:nvPr/>
        </p:nvSpPr>
        <p:spPr>
          <a:xfrm>
            <a:off x="6382512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903720" y="413308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E67E22"/>
                </a:solidFill>
              </a:rPr>
              <a:t>FORMULA — ייצוב נדרש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03720" y="4443984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6A7A"/>
                </a:solidFill>
              </a:rPr>
              <a:t>0% צמיחה. מותגים FRM PROMO ירדו. לבחון פרומו ומדיניות מחיר.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" y="6537960"/>
            <a:ext cx="1161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700" dirty="0">
                <a:solidFill>
                  <a:srgbClr val="5A6A7A"/>
                </a:solidFill>
              </a:rPr>
              <a:t>דוח זה הופק ע"ב נתוני Power BI — MMD דיסטריביושן · 2025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E6A817"/>
          </a:solidFill>
          <a:ln/>
        </p:spPr>
      </p:sp>
      <p:sp>
        <p:nvSpPr>
          <p:cNvPr id="5" name="Shape 3"/>
          <p:cNvSpPr/>
          <p:nvPr/>
        </p:nvSpPr>
        <p:spPr>
          <a:xfrm>
            <a:off x="5120640" y="0"/>
            <a:ext cx="54864" cy="68580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</a:rPr>
              <a:t>MMD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spc="500" kern="0" dirty="0">
                <a:solidFill>
                  <a:srgbClr val="6AABC8"/>
                </a:solidFill>
              </a:rPr>
              <a:t>דיסטריביושן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E6A817"/>
                </a:solidFill>
              </a:rPr>
              <a:t>דוח שנתי 2025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5A6A7A"/>
                </a:solidFill>
              </a:rPr>
              <a:t>כולל דינמיקה 2026 ינו–מאי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94960" y="13716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E6A817"/>
                </a:solidFill>
              </a:rPr>
              <a:t>תודה.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394960" y="23774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ביחד נמשיך לצמוח.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94960" y="32004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800" dirty="0">
                <a:solidFill>
                  <a:srgbClr val="4A7A9B"/>
                </a:solidFill>
              </a:rPr>
              <a:t>מכירות 2025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394960" y="34564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₪ 5,531,234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52360" y="32004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800" dirty="0">
                <a:solidFill>
                  <a:srgbClr val="4A7A9B"/>
                </a:solidFill>
              </a:rPr>
              <a:t>צמיחה שנתית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452360" y="34564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+8%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509760" y="32004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800" dirty="0">
                <a:solidFill>
                  <a:srgbClr val="4A7A9B"/>
                </a:solidFill>
              </a:rPr>
              <a:t>מנוע הצמיחה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509760" y="34564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ICE bdd +24%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5943600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800" dirty="0">
                <a:solidFill>
                  <a:srgbClr val="3A5A7A"/>
                </a:solidFill>
              </a:rPr>
              <a:t>Power BI · MMD דיסטריביושן · 2025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2026-06-07T15:02:30Z</dcterms:created>
  <dcterms:modified xsi:type="dcterms:W3CDTF">2026-06-07T15:02:30Z</dcterms:modified>
</cp:coreProperties>
</file>