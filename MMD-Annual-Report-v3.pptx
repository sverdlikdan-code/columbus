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54864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2377440" cy="2377440"/>
          </a:xfrm>
          <a:prstGeom prst="ellipse">
            <a:avLst/>
          </a:prstGeom>
          <a:solidFill>
            <a:srgbClr val="2E77B8"/>
          </a:solidFill>
          <a:ln w="25400">
            <a:solidFill>
              <a:srgbClr val="5BB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MMD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DISTRIBUTION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241280" y="1828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7000" y="2011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8E6F0"/>
                </a:solidFill>
              </a:rPr>
              <a:t>Язык: RU  ·  Language: change LANG const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0287000" y="3474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RU · HE · EN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0" y="10058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Годовой отчёт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0" y="164592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5BB8D4"/>
                </a:solidFill>
              </a:rPr>
              <a:t>2025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A8E6F0"/>
                </a:solidFill>
              </a:rPr>
              <a:t>Продажи · Динамика · Рекомендации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3154680"/>
            <a:ext cx="8138160" cy="2743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3246120"/>
            <a:ext cx="1920240" cy="731520"/>
          </a:xfrm>
          <a:prstGeom prst="rect">
            <a:avLst/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327355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Общие продажи 2025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30752" y="349300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B8D4"/>
                </a:solidFill>
              </a:rPr>
              <a:t>₪ 5,531,234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0" y="3246120"/>
            <a:ext cx="1920240" cy="731520"/>
          </a:xfrm>
          <a:prstGeom prst="rect">
            <a:avLst/>
          </a:prstGeom>
          <a:solidFill>
            <a:srgbClr val="1C3D6B"/>
          </a:solidFill>
          <a:ln w="12700">
            <a:solidFill>
              <a:srgbClr val="1A9E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327355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Рост vs 2024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788152" y="349300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9E5C"/>
                </a:solidFill>
              </a:rPr>
              <a:t>▲ +8%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0" y="3246120"/>
            <a:ext cx="1920240" cy="731520"/>
          </a:xfrm>
          <a:prstGeom prst="rect">
            <a:avLst/>
          </a:prstGeom>
          <a:solidFill>
            <a:srgbClr val="1C3D6B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327355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Компаний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845552" y="349300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817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29800" y="3246120"/>
            <a:ext cx="1920240" cy="731520"/>
          </a:xfrm>
          <a:prstGeom prst="rect">
            <a:avLst/>
          </a:prstGeom>
          <a:solidFill>
            <a:srgbClr val="1C3D6B"/>
          </a:solidFill>
          <a:ln w="12700">
            <a:solidFill>
              <a:srgbClr val="2E77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02952" y="3273552"/>
            <a:ext cx="1773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Регионов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902952" y="3493008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7B8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0" y="40690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5BB8D4"/>
                </a:solidFill>
              </a:rPr>
              <a:t>Содержание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4352544"/>
            <a:ext cx="8138160" cy="1828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44439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60520" y="4443984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31" name="Text 29"/>
          <p:cNvSpPr/>
          <p:nvPr/>
        </p:nvSpPr>
        <p:spPr>
          <a:xfrm>
            <a:off x="4251960" y="44988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Итоги 2025 — Executive Summary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4910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60520" y="4910328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34" name="Text 32"/>
          <p:cNvSpPr/>
          <p:nvPr/>
        </p:nvSpPr>
        <p:spPr>
          <a:xfrm>
            <a:off x="4251960" y="4965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Разбивка по компаниям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5376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60520" y="5376672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5431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Кашрут: кошерный vs некошерный рынок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5843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60520" y="5843016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40" name="Text 38"/>
          <p:cNvSpPr/>
          <p:nvPr/>
        </p:nvSpPr>
        <p:spPr>
          <a:xfrm>
            <a:off x="4251960" y="5897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Каналы: сети vs частный рынок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63093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60520" y="6309360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43" name="Text 41"/>
          <p:cNvSpPr/>
          <p:nvPr/>
        </p:nvSpPr>
        <p:spPr>
          <a:xfrm>
            <a:off x="4251960" y="63642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Регионы: Эйлат vs Арава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4439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06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275320" y="4443984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44988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Бренды — генераторы роста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0" y="49103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07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275320" y="4910328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4965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Семейства продуктов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5376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08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275320" y="5376672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5431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Динамика 2026 (Янв–Май)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5843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17"/>
                </a:solidFill>
              </a:rPr>
              <a:t>09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275320" y="5843016"/>
            <a:ext cx="27432" cy="347472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55" name="Text 53"/>
          <p:cNvSpPr/>
          <p:nvPr/>
        </p:nvSpPr>
        <p:spPr>
          <a:xfrm>
            <a:off x="8366760" y="5897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Выводы и следующие шаги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65562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MMD Distribution · Power BI Data · 2025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400800" y="65562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Конфиденциально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45720"/>
          </a:xfrm>
          <a:prstGeom prst="rect">
            <a:avLst/>
          </a:prstGeom>
          <a:solidFill>
            <a:srgbClr val="5BB8D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8E6F0"/>
                </a:solidFill>
              </a:rPr>
              <a:t>01 · ИТОГИ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19456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Общие продажи 2025 vs 2024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91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E6F0"/>
                </a:solidFill>
              </a:rPr>
              <a:t>MMD Distribution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3749040" cy="64008"/>
          </a:xfrm>
          <a:prstGeom prst="rect">
            <a:avLst/>
          </a:prstGeom>
          <a:solidFill>
            <a:srgbClr val="1C3D6B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950976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Продажи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170432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D6B"/>
                </a:solidFill>
              </a:rPr>
              <a:t>₪ 5,531,234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" y="1627632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TOTAL SALES 2025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0" y="82296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822960"/>
            <a:ext cx="3749040" cy="64008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14" name="Text 12"/>
          <p:cNvSpPr/>
          <p:nvPr/>
        </p:nvSpPr>
        <p:spPr>
          <a:xfrm>
            <a:off x="4334256" y="950976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Продажи 2024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34256" y="1170432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7B8"/>
                </a:solidFill>
              </a:rPr>
              <a:t>₪ 5,143,192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34256" y="1627632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TOTAL SALES 2024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321040" y="82296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822960"/>
            <a:ext cx="3657600" cy="64008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950976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Годовой рост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49056" y="117043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9E5C"/>
                </a:solidFill>
              </a:rPr>
              <a:t>▲ +8%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49056" y="1627632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Δ +388,043 ₪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011680"/>
            <a:ext cx="7132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848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Продажи по компаниям — 2025 vs 2024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95728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3716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Компания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 шек.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FORMULA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2,784,475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2,798,119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+13,644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BA8"/>
                          </a:solidFill>
                        </a:rPr>
                        <a:t>→ 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ICE bdd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1,056,545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1,305,201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+248,656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▲ +24%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875,500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917,877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+42,377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7B8"/>
                          </a:solidFill>
                        </a:rPr>
                        <a:t>▲ +5%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ICE MISH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590,549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696,390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+105,840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▲ +18%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3D6B"/>
                          </a:solidFill>
                        </a:rPr>
                        <a:t>ИТОГО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5,143,192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5,531,234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+388,043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9E5C"/>
                          </a:solidFill>
                        </a:rPr>
                        <a:t>▲ +8%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589520" y="2011680"/>
            <a:ext cx="43891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0" y="20848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6B"/>
                </a:solidFill>
              </a:rPr>
              <a:t>Рост по компаниям (%)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80960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FORMULA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235440" y="2542032"/>
            <a:ext cx="18288" cy="256032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9" name="Text 26"/>
          <p:cNvSpPr/>
          <p:nvPr/>
        </p:nvSpPr>
        <p:spPr>
          <a:xfrm>
            <a:off x="9372600" y="2542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BA8"/>
                </a:solidFill>
              </a:rPr>
              <a:t>→ 0%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80960" y="3182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ICE bdd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35440" y="3182112"/>
            <a:ext cx="3108960" cy="256032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2" name="Text 29"/>
          <p:cNvSpPr/>
          <p:nvPr/>
        </p:nvSpPr>
        <p:spPr>
          <a:xfrm>
            <a:off x="1243584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9E5C"/>
                </a:solidFill>
              </a:rPr>
              <a:t>▲ +24%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680960" y="38221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INTER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235440" y="3822192"/>
            <a:ext cx="647700" cy="256032"/>
          </a:xfrm>
          <a:prstGeom prst="rect">
            <a:avLst/>
          </a:prstGeom>
          <a:solidFill>
            <a:srgbClr val="2E77B8"/>
          </a:solidFill>
          <a:ln/>
        </p:spPr>
      </p:sp>
      <p:sp>
        <p:nvSpPr>
          <p:cNvPr id="35" name="Text 32"/>
          <p:cNvSpPr/>
          <p:nvPr/>
        </p:nvSpPr>
        <p:spPr>
          <a:xfrm>
            <a:off x="9974580" y="3822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7B8"/>
                </a:solidFill>
              </a:rPr>
              <a:t>▲ +5%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680960" y="44622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ICE MISH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235440" y="4462272"/>
            <a:ext cx="2331720" cy="256032"/>
          </a:xfrm>
          <a:prstGeom prst="rect">
            <a:avLst/>
          </a:prstGeom>
          <a:solidFill>
            <a:srgbClr val="1A9E5C"/>
          </a:solidFill>
          <a:ln/>
        </p:spPr>
      </p:sp>
      <p:sp>
        <p:nvSpPr>
          <p:cNvPr id="38" name="Text 35"/>
          <p:cNvSpPr/>
          <p:nvPr/>
        </p:nvSpPr>
        <p:spPr>
          <a:xfrm>
            <a:off x="11658600" y="4462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9E5C"/>
                </a:solidFill>
              </a:rPr>
              <a:t>▲ +18%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4320" y="5760720"/>
            <a:ext cx="11612880" cy="530352"/>
          </a:xfrm>
          <a:prstGeom prst="rect">
            <a:avLst/>
          </a:prstGeom>
          <a:solidFill>
            <a:srgbClr val="E8F4FD"/>
          </a:solidFill>
          <a:ln w="12700">
            <a:solidFill>
              <a:srgbClr val="2E77B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8912" y="5852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7B8"/>
                </a:solidFill>
              </a:rPr>
              <a:t>Главный вывод: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194560" y="5852160"/>
            <a:ext cx="9509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ICE bdd — единственный быстрорастущий игрок (+24%). FORMULA стагнирует (0%). Рост рынка держится за счёт ICE bdd и ICE MISH.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5D5E5"/>
          </a:solidFill>
          <a:ln/>
        </p:spPr>
      </p:sp>
      <p:sp>
        <p:nvSpPr>
          <p:cNvPr id="43" name="Text 40"/>
          <p:cNvSpPr/>
          <p:nvPr/>
        </p:nvSpPr>
        <p:spPr>
          <a:xfrm>
            <a:off x="274320" y="6675120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MMD Distribution · Годовой отчёт 2025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9601200" y="66751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 / 10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11521440" y="6565392"/>
            <a:ext cx="594360" cy="219456"/>
          </a:xfrm>
          <a:prstGeom prst="roundRect">
            <a:avLst>
              <a:gd name="adj" fmla="val 16667"/>
            </a:avLst>
          </a:prstGeom>
          <a:solidFill>
            <a:srgbClr val="1C3D6B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1521440" y="656539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B8D4"/>
                </a:solidFill>
              </a:rPr>
              <a:t>RU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2026-06-07T15:29:04Z</dcterms:created>
  <dcterms:modified xsi:type="dcterms:W3CDTF">2026-06-07T15:29:04Z</dcterms:modified>
</cp:coreProperties>
</file>